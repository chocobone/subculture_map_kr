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4F46E5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46E5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SubCulture Tracker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서브컬처 트래커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2606040"/>
            <a:ext cx="3657600" cy="45720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애니·게임 서브컬처 팝업스토어·한정행사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수집·정리 풀스택 웹 애플리케이션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931920"/>
            <a:ext cx="1645920" cy="292608"/>
          </a:xfrm>
          <a:prstGeom prst="roundRect">
            <a:avLst>
              <a:gd name="adj" fmla="val 37500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319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3931920"/>
            <a:ext cx="1645920" cy="292608"/>
          </a:xfrm>
          <a:prstGeom prst="roundRect">
            <a:avLst>
              <a:gd name="adj" fmla="val 37500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39319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0" y="3931920"/>
            <a:ext cx="1645920" cy="292608"/>
          </a:xfrm>
          <a:prstGeom prst="roundRect">
            <a:avLst>
              <a:gd name="adj" fmla="val 37500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39319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CDK v2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1645920" cy="292608"/>
          </a:xfrm>
          <a:prstGeom prst="roundRect">
            <a:avLst>
              <a:gd name="adj" fmla="val 37500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9319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46720" y="3931920"/>
            <a:ext cx="1645920" cy="292608"/>
          </a:xfrm>
          <a:prstGeom prst="roundRect">
            <a:avLst>
              <a:gd name="adj" fmla="val 37500"/>
            </a:avLst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39319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Aurora PostgreSQL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829800" y="3931920"/>
            <a:ext cx="1645920" cy="292608"/>
          </a:xfrm>
          <a:prstGeom prst="roundRect">
            <a:avLst>
              <a:gd name="adj" fmla="val 37500"/>
            </a:avLst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39319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Bedrock 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54864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서브컬처 트래커가 필요한가?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😫  문제점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트위터·루리웹·네이버카페 등 여러 커뮤니티를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수동으로 매일 확인해야 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행사 정보가 분산되어 있어 놓치는 경우 다수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팝업·한정판 행사는 기간이 짧아 실시간 알림 필요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920240"/>
            <a:ext cx="640080" cy="548640"/>
          </a:xfrm>
          <a:prstGeom prst="rightArrow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100584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솔루션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다수 커뮤니티에서 행사 정보를 자동 크롤링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19933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Bedrock AI가 행사 유형·IP 자동 분류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243230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관심 IP 등록 시 새 행사 즉시 푸시 알림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287121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지도·캘린더 통합 뷰로 한눈에 확인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🏪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" y="3886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유형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팝업/콜라보/굿즈/한정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91840" y="3886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소스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9184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트위터·루리웹·네이버카페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17920" y="3886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분류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Bedrock Claude Haiku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00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0" y="3886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방식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1440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+ 앱 내 실시간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54864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서버리스 기반 풀스택 아키텍처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5156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51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프론트엔드 ]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194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API 레이어 ]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324612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3246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크롤러 ]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425196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251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데이터 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525780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5257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알림 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68880" y="100584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SPA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(CloudFront+S3)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34840" y="10058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0058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Cognito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68880" y="214884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(REST + WS)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4840" y="21488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1488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Handler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21488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1488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68880" y="32004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EventBridge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320040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0" y="320040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Crawler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78040" y="32004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Bedrock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Haiku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68880" y="42062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4206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Aurora PostgreSQL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Serverless v2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420624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4206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DynamoDB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(세션/알림)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42062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4206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ElastiCache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18120" y="42062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8120" y="4206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(검색)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68880" y="52120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0" y="5212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팬아웃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77640" y="521208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77640" y="52120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94960" y="52120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0" y="5212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GW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326880" y="1005840"/>
            <a:ext cx="2560320" cy="4709160"/>
          </a:xfrm>
          <a:prstGeom prst="roundRect">
            <a:avLst>
              <a:gd name="adj" fmla="val 5357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9326880" y="1005840"/>
            <a:ext cx="256032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🏗️ AWS CDK v2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(TypeScript)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인프라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코드화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326880" y="566928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26880" y="5669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GitHub Actions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CI/CD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383280" y="1508760"/>
            <a:ext cx="0" cy="64008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3383280" y="2651760"/>
            <a:ext cx="0" cy="54864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tailEnd type="arrow"/>
          </a:ln>
        </p:spPr>
      </p:sp>
      <p:sp>
        <p:nvSpPr>
          <p:cNvPr id="55" name="Shape 53"/>
          <p:cNvSpPr/>
          <p:nvPr/>
        </p:nvSpPr>
        <p:spPr>
          <a:xfrm>
            <a:off x="4023360" y="3447288"/>
            <a:ext cx="13716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5532120" y="3447288"/>
            <a:ext cx="13716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7040880" y="3447288"/>
            <a:ext cx="13716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3474720" y="3703320"/>
            <a:ext cx="0" cy="50292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3383280" y="2651760"/>
            <a:ext cx="0" cy="256032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3840480" y="5458968"/>
            <a:ext cx="13716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5257800" y="5458968"/>
            <a:ext cx="13716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54864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크롤링 → AI 분류 → DB 저장 → 사용자 알림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103120" cy="3474720"/>
          </a:xfrm>
          <a:prstGeom prst="roundRect">
            <a:avLst>
              <a:gd name="adj" fmla="val 6522"/>
            </a:avLst>
          </a:prstGeom>
          <a:solidFill>
            <a:srgbClr val="FEF3C7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09728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수집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EventBridge 스케줄러가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주기적으로 크롤러 Lambda 트리거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SQS로 작업 분배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2560320"/>
            <a:ext cx="13716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4" name="Shape 12"/>
          <p:cNvSpPr/>
          <p:nvPr/>
        </p:nvSpPr>
        <p:spPr>
          <a:xfrm>
            <a:off x="2697480" y="1005840"/>
            <a:ext cx="2103120" cy="3474720"/>
          </a:xfrm>
          <a:prstGeom prst="roundRect">
            <a:avLst>
              <a:gd name="adj" fmla="val 6522"/>
            </a:avLst>
          </a:prstGeom>
          <a:solidFill>
            <a:srgbClr val="EEF2FF"/>
          </a:solidFill>
          <a:ln w="8890">
            <a:solidFill>
              <a:srgbClr val="4F46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09728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9748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288036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Bedrock Claude Haiku가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유형·IP·날짜·장소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추출 및 분류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560320"/>
            <a:ext cx="13716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0" y="1005840"/>
            <a:ext cx="2103120" cy="3474720"/>
          </a:xfrm>
          <a:prstGeom prst="roundRect">
            <a:avLst>
              <a:gd name="adj" fmla="val 6522"/>
            </a:avLst>
          </a:prstGeom>
          <a:solidFill>
            <a:srgbClr val="DCFCE7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109728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580644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02920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저장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288036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Aurora PostgreSQL에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행사 데이터 저장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OpenSearch 인덱싱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78040" y="2560320"/>
            <a:ext cx="13716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8" name="Shape 26"/>
          <p:cNvSpPr/>
          <p:nvPr/>
        </p:nvSpPr>
        <p:spPr>
          <a:xfrm>
            <a:off x="7360920" y="1005840"/>
            <a:ext cx="2103120" cy="3474720"/>
          </a:xfrm>
          <a:prstGeom prst="roundRect">
            <a:avLst>
              <a:gd name="adj" fmla="val 6522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109728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6092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36092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발송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52360" y="288036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팬아웃으로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 이메일 + WebSocket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앱 내 알림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509760" y="2560320"/>
            <a:ext cx="13716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35" name="Shape 33"/>
          <p:cNvSpPr/>
          <p:nvPr/>
        </p:nvSpPr>
        <p:spPr>
          <a:xfrm>
            <a:off x="9692640" y="1005840"/>
            <a:ext cx="2103120" cy="3474720"/>
          </a:xfrm>
          <a:prstGeom prst="roundRect">
            <a:avLst>
              <a:gd name="adj" fmla="val 6522"/>
            </a:avLst>
          </a:prstGeom>
          <a:solidFill>
            <a:srgbClr val="DBEAFE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69880" y="10972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104698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9264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69264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확인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784080" y="288036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SPA에서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목록·지도·캘린더로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조회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754880"/>
            <a:ext cx="11430000" cy="1463040"/>
          </a:xfrm>
          <a:prstGeom prst="roundRect">
            <a:avLst>
              <a:gd name="adj" fmla="val 7500"/>
            </a:avLst>
          </a:prstGeom>
          <a:solidFill>
            <a:srgbClr val="1E1B4B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핵심 포인트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51663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크롤러는 SQS를 통해 소스별로 병렬 처리 → 한 소스 실패가 전체에 영향 없음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" y="542239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Bedrock AI 분류로 동일 행사의 중복 등록 방지 (IP + 제목 유사도 체크)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" y="56784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WebSocket API Gateway로 신규 행사 등록 즉시 열린 앱에 푸시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54864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AWS 서버리스 서비스와 최신 프론트엔드 기술의 조합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5577840" cy="2606040"/>
          </a:xfrm>
          <a:prstGeom prst="roundRect">
            <a:avLst>
              <a:gd name="adj" fmla="val 5263"/>
            </a:avLst>
          </a:prstGeom>
          <a:solidFill>
            <a:srgbClr val="EEF2FF"/>
          </a:solidFill>
          <a:ln w="889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⚛️  프론트엔드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5212080" cy="0"/>
          </a:xfrm>
          <a:prstGeom prst="line">
            <a:avLst/>
          </a:prstGeom>
          <a:noFill/>
          <a:ln w="635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002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00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 + TypeScript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6002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600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(빌드 도구)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148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TanStack Query (서버 상태)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2148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148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97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Router v6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0" y="26974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697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Maps SDK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0" y="1005840"/>
            <a:ext cx="5577840" cy="2606040"/>
          </a:xfrm>
          <a:prstGeom prst="roundRect">
            <a:avLst>
              <a:gd name="adj" fmla="val 5263"/>
            </a:avLst>
          </a:prstGeom>
          <a:solidFill>
            <a:srgbClr val="DBEAFE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0972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 백엔드 /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1481328"/>
            <a:ext cx="5212080" cy="0"/>
          </a:xfrm>
          <a:prstGeom prst="line">
            <a:avLst/>
          </a:prstGeom>
          <a:noFill/>
          <a:ln w="635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16002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600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 (Node.js 20)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235440" y="16002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0" y="1600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Gateway REST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92240" y="2148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148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Gateway WebSocket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235440" y="2148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0" y="2148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Cognito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92240" y="26974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2697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SQS + EventBridge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235440" y="26974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0" y="2697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esbuild 번들링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840480"/>
            <a:ext cx="5577840" cy="2606040"/>
          </a:xfrm>
          <a:prstGeom prst="roundRect">
            <a:avLst>
              <a:gd name="adj" fmla="val 5263"/>
            </a:avLst>
          </a:prstGeom>
          <a:solidFill>
            <a:srgbClr val="FEF3C7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9319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 AI / 데이터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4315968"/>
            <a:ext cx="5212080" cy="0"/>
          </a:xfrm>
          <a:prstGeom prst="line">
            <a:avLst/>
          </a:prstGeom>
          <a:noFill/>
          <a:ln w="635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434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434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Bedrock (Claude Haiku)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91840" y="4434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4434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Aurora PostgreSQL Serverless v2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8640" y="49834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983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DynamoDB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91840" y="49834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4983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ElastiCache Redis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" y="553212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5321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OpenSearch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09360" y="3840480"/>
            <a:ext cx="5577840" cy="2606040"/>
          </a:xfrm>
          <a:prstGeom prst="roundRect">
            <a:avLst>
              <a:gd name="adj" fmla="val 5263"/>
            </a:avLst>
          </a:prstGeom>
          <a:solidFill>
            <a:srgbClr val="DCFCE7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39319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🏗️  인프라 / DevOps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46520" y="4315968"/>
            <a:ext cx="5212080" cy="0"/>
          </a:xfrm>
          <a:prstGeom prst="line">
            <a:avLst/>
          </a:prstGeom>
          <a:noFill/>
          <a:ln w="6350">
            <a:solidFill>
              <a:srgbClr val="16A3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4434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4434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CDK v2 (TypeScript)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235440" y="44348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26880" y="4434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CI/CD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92240" y="49834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83680" y="4983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CloudFront + S3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235440" y="49834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26880" y="4983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+ SES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492240" y="553212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83680" y="55321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ACM (SSL/TLS)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54864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소개  ①  행사 목록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상태별 탭 + IP 필터로 원하는 행사를 빠르게 탐색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005840"/>
            <a:ext cx="3291840" cy="539496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905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005840"/>
            <a:ext cx="3291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0515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9:41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371600" y="1261872"/>
            <a:ext cx="8229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2618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94560" y="1261872"/>
            <a:ext cx="8229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4560" y="1572768"/>
            <a:ext cx="82296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2618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17520" y="1261872"/>
            <a:ext cx="8229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12618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0" y="1261872"/>
            <a:ext cx="8229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2618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63040" y="1664208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16642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58568" y="1664208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D1D5DB"/>
          </a:solidFill>
          <a:ln/>
        </p:spPr>
      </p:sp>
      <p:sp>
        <p:nvSpPr>
          <p:cNvPr id="22" name="Text 20"/>
          <p:cNvSpPr/>
          <p:nvPr/>
        </p:nvSpPr>
        <p:spPr>
          <a:xfrm>
            <a:off x="2258568" y="16642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원피스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054096" y="1664208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D1D5DB"/>
          </a:solidFill>
          <a:ln/>
        </p:spPr>
      </p:sp>
      <p:sp>
        <p:nvSpPr>
          <p:cNvPr id="24" name="Text 22"/>
          <p:cNvSpPr/>
          <p:nvPr/>
        </p:nvSpPr>
        <p:spPr>
          <a:xfrm>
            <a:off x="3054096" y="16642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귀멸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849624" y="1664208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D1D5DB"/>
          </a:solidFill>
          <a:ln/>
        </p:spPr>
      </p:sp>
      <p:sp>
        <p:nvSpPr>
          <p:cNvPr id="26" name="Text 24"/>
          <p:cNvSpPr/>
          <p:nvPr/>
        </p:nvSpPr>
        <p:spPr>
          <a:xfrm>
            <a:off x="3849624" y="16642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스파패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481328" y="2029968"/>
            <a:ext cx="307238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72768" y="21854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/>
        </p:spPr>
      </p:sp>
      <p:sp>
        <p:nvSpPr>
          <p:cNvPr id="29" name="Text 27"/>
          <p:cNvSpPr/>
          <p:nvPr/>
        </p:nvSpPr>
        <p:spPr>
          <a:xfrm>
            <a:off x="1572768" y="2185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🏪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148840" y="2185416"/>
            <a:ext cx="457200" cy="164592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2148840" y="218541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2651760" y="2185416"/>
            <a:ext cx="384048" cy="164592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2651760" y="2185416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977640" y="218541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D-10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2148840" y="23774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원피스 팝업스토어 홍대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148840" y="257860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홍대입구역 2번출구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2148840" y="274320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2026.05.30 ~ 06.15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481328" y="3081528"/>
            <a:ext cx="307238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72768" y="323697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/>
        </p:spPr>
      </p:sp>
      <p:sp>
        <p:nvSpPr>
          <p:cNvPr id="40" name="Text 38"/>
          <p:cNvSpPr/>
          <p:nvPr/>
        </p:nvSpPr>
        <p:spPr>
          <a:xfrm>
            <a:off x="1572768" y="32369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148840" y="3236976"/>
            <a:ext cx="457200" cy="164592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2148840" y="323697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2651760" y="3236976"/>
            <a:ext cx="384048" cy="164592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/>
        </p:spPr>
      </p:sp>
      <p:sp>
        <p:nvSpPr>
          <p:cNvPr id="44" name="Text 42"/>
          <p:cNvSpPr/>
          <p:nvPr/>
        </p:nvSpPr>
        <p:spPr>
          <a:xfrm>
            <a:off x="2651760" y="3236976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콜라보</a:t>
            </a: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3977640" y="323697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D-25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2148840" y="3429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귀멸의 칼날 x 스타벅스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148840" y="363016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스타벅스 전국 매장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148840" y="37947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2026.06.01 ~ 06.30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481328" y="4133088"/>
            <a:ext cx="307238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72768" y="42885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/>
        </p:spPr>
      </p:sp>
      <p:sp>
        <p:nvSpPr>
          <p:cNvPr id="51" name="Text 49"/>
          <p:cNvSpPr/>
          <p:nvPr/>
        </p:nvSpPr>
        <p:spPr>
          <a:xfrm>
            <a:off x="1572768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148840" y="4288536"/>
            <a:ext cx="457200" cy="164592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53" name="Text 51"/>
          <p:cNvSpPr/>
          <p:nvPr/>
        </p:nvSpPr>
        <p:spPr>
          <a:xfrm>
            <a:off x="2148840" y="428853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2651760" y="4288536"/>
            <a:ext cx="384048" cy="164592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/>
        </p:spPr>
      </p:sp>
      <p:sp>
        <p:nvSpPr>
          <p:cNvPr id="55" name="Text 53"/>
          <p:cNvSpPr/>
          <p:nvPr/>
        </p:nvSpPr>
        <p:spPr>
          <a:xfrm>
            <a:off x="2651760" y="4288536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한정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3977640" y="428853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D-15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2148840" y="44805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스파이×패밀리 한정 굿즈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148840" y="468172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코엑스 B2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148840" y="48463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2026.06.20 ~ 06.22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481328" y="5184648"/>
            <a:ext cx="307238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72768" y="53400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/>
        </p:spPr>
      </p:sp>
      <p:sp>
        <p:nvSpPr>
          <p:cNvPr id="62" name="Text 60"/>
          <p:cNvSpPr/>
          <p:nvPr/>
        </p:nvSpPr>
        <p:spPr>
          <a:xfrm>
            <a:off x="1572768" y="5340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2148840" y="5340096"/>
            <a:ext cx="457200" cy="164592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/>
        </p:spPr>
      </p:sp>
      <p:sp>
        <p:nvSpPr>
          <p:cNvPr id="64" name="Text 62"/>
          <p:cNvSpPr/>
          <p:nvPr/>
        </p:nvSpPr>
        <p:spPr>
          <a:xfrm>
            <a:off x="2148840" y="534009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2651760" y="5340096"/>
            <a:ext cx="384048" cy="164592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/>
        </p:spPr>
      </p:sp>
      <p:sp>
        <p:nvSpPr>
          <p:cNvPr id="66" name="Text 64"/>
          <p:cNvSpPr/>
          <p:nvPr/>
        </p:nvSpPr>
        <p:spPr>
          <a:xfrm>
            <a:off x="2651760" y="5340096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</a:t>
            </a:r>
            <a:endParaRPr lang="en-US" sz="550" dirty="0"/>
          </a:p>
        </p:txBody>
      </p:sp>
      <p:sp>
        <p:nvSpPr>
          <p:cNvPr id="67" name="Text 65"/>
          <p:cNvSpPr/>
          <p:nvPr/>
        </p:nvSpPr>
        <p:spPr>
          <a:xfrm>
            <a:off x="2148840" y="5532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진격의 거인 최종화 기념전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148840" y="573328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홍익문화공원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148840" y="589788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2026.05.01 ~ 05.20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1371600" y="5943600"/>
            <a:ext cx="3291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371600" y="5943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2194560" y="5943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017520" y="5943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3840480" y="5943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5029200" y="1005840"/>
            <a:ext cx="6675120" cy="5394960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03520" y="10972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5212080" y="1554480"/>
            <a:ext cx="621792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 w="3810">
            <a:solidFill>
              <a:srgbClr val="A5B4F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49240" y="160020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🔹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669280" y="16002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탭 필터 — 전체 / 진행중 / 예정 / 종료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탭으로 원하는 행사만 빠르게 확인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212080" y="2468880"/>
            <a:ext cx="621792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 w="3810">
            <a:solidFill>
              <a:srgbClr val="A5B4F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49240" y="251460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🔹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5669280" y="25146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필터 칩 — 등록한 관심 IP별로 필터링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가능한 칩 UI로 여러 IP 지원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212080" y="3383280"/>
            <a:ext cx="621792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 w="3810">
            <a:solidFill>
              <a:srgbClr val="A5B4F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349240" y="342900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🔹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5669280" y="34290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카드 — 타입 아이콘, 상태 배지, D-Day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장소·기간 한눈에 확인 후 탭하면 상세 페이지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212080" y="4297680"/>
            <a:ext cx="621792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 w="3810">
            <a:solidFill>
              <a:srgbClr val="A5B4F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49240" y="434340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🔹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5669280" y="43434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갱신 — WebSocket으로 새 행사 등록 시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 없이 피드에 자동 추가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212080" y="5212080"/>
            <a:ext cx="621792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 w="3810">
            <a:solidFill>
              <a:srgbClr val="A5B4F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49240" y="525780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🔹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5669280" y="5257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스크롤 — TanStack Query로 페이지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없이 자연스럽게 로드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54864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소개  ②  지도 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Maps 기반 행사 위치 핀 + 바텀시트 상세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005840"/>
            <a:ext cx="3291840" cy="539496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905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005840"/>
            <a:ext cx="3291840" cy="4937760"/>
          </a:xfrm>
          <a:prstGeom prst="rect">
            <a:avLst/>
          </a:prstGeom>
          <a:solidFill>
            <a:srgbClr val="D4E6A8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651760"/>
            <a:ext cx="329184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3931920"/>
            <a:ext cx="329184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1280160"/>
            <a:ext cx="109728" cy="4663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931920" y="1280160"/>
            <a:ext cx="109728" cy="4663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481328" y="1298448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129844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32888" y="1298448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129844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원피스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584448" y="1298448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129844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귀멸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011680" y="2286000"/>
            <a:ext cx="292608" cy="2926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🏪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291840"/>
            <a:ext cx="292608" cy="2926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291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33472" y="1627632"/>
            <a:ext cx="502920" cy="502920"/>
          </a:xfrm>
          <a:prstGeom prst="ellipse">
            <a:avLst/>
          </a:prstGeom>
          <a:solidFill>
            <a:srgbClr val="4F46E5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0" y="1737360"/>
            <a:ext cx="292608" cy="292608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1737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0" y="2103120"/>
            <a:ext cx="292608" cy="2926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0" y="4251960"/>
            <a:ext cx="3291840" cy="169164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43434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30" name="Text 28"/>
          <p:cNvSpPr/>
          <p:nvPr/>
        </p:nvSpPr>
        <p:spPr>
          <a:xfrm>
            <a:off x="150876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011680" y="4498848"/>
            <a:ext cx="548640" cy="164592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2011680" y="449884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2011680" y="47091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스파이×패밀리 한정 굿즈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011680" y="491947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코엑스 B2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011680" y="51023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2026.06.20 ~ 06.22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508760" y="5349240"/>
            <a:ext cx="3017520" cy="320040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/>
        </p:spPr>
      </p:sp>
      <p:sp>
        <p:nvSpPr>
          <p:cNvPr id="37" name="Text 35"/>
          <p:cNvSpPr/>
          <p:nvPr/>
        </p:nvSpPr>
        <p:spPr>
          <a:xfrm>
            <a:off x="1508760" y="5349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보기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371600" y="5943600"/>
            <a:ext cx="3291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0" y="5943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2194560" y="5943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017520" y="5943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3840480" y="5943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5029200" y="1005840"/>
            <a:ext cx="6675120" cy="5394960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0" y="10972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212080" y="1554480"/>
            <a:ext cx="6217920" cy="1005840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9240" y="164592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760720" y="16459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Maps 핀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장소에 타입별 핀 표시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latLng 좌표 저장 → 크롤링 시 자동 지오코딩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12080" y="2697480"/>
            <a:ext cx="6217920" cy="1005840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278892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🏷️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760720" y="27889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필터 칩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위에 플로팅 칩으로 IP별 핀 필터링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페이지와 동일한 UX 패턴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212080" y="3840480"/>
            <a:ext cx="6217920" cy="1005840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9240" y="393192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760720" y="39319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바텀시트 상세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탭 시 하단에서 슬라이드업 되는 미리보기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제목·장소·기간·상태 확인 후 상세 이동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212080" y="4983480"/>
            <a:ext cx="6217920" cy="1005840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49240" y="507492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760720" y="50749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SDK 실패 폴백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Maps API 로드 실패 시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탭으로 안내하는 에러 UI 제공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54864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소개  ③  행사 상세 / MY 페이지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상세 정보 조회 및 관심 IP 관리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3108960" cy="539496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 w="1905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05840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7899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원피스 팝업스토어 홍대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31089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" y="1572768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57276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950976" y="1572768"/>
            <a:ext cx="411480" cy="18288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157276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84048" y="1965960"/>
            <a:ext cx="288950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103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행사명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78992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원피스 팝업스토어 홍대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" y="24963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78992" y="24963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홍대입구역 2번출구 옆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" y="288950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78992" y="288950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2026.05.30 ~ 06.15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" y="328269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78992" y="3282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원피스 25주년 기념 공식 팝업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4048" y="3931920"/>
            <a:ext cx="2889504" cy="384048"/>
          </a:xfrm>
          <a:prstGeom prst="roundRect">
            <a:avLst>
              <a:gd name="adj" fmla="val 23810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3931920"/>
            <a:ext cx="28895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 네이버 지도로 길찾기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4048" y="4434840"/>
            <a:ext cx="288950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434840"/>
            <a:ext cx="28895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보기 →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5943600"/>
            <a:ext cx="3108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59436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1051560" y="59436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1828800" y="59436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2606040" y="59436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657600" y="1005840"/>
            <a:ext cx="3108960" cy="539496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 w="19050">
            <a:solidFill>
              <a:srgbClr val="3741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1005840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794760" y="10789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94760" y="128016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user@example.com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943600" y="1115568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111556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IP 추가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794760" y="1645920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0" y="17373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원피스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31920" y="19751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원피스 · OP · 루피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217920" y="178308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794760" y="2395728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0" y="24871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귀멸의 칼날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931920" y="272491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귀멸 · kimetsu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217920" y="253288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794760" y="3145536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32369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스파이×패밀리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931920" y="34747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스파패 · SPY×FAMILY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217920" y="328269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794760" y="3895344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31920" y="39867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나루토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931920" y="42245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나루토 · NARUTO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217920" y="403250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657600" y="5943600"/>
            <a:ext cx="3108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0" y="59436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4434840" y="59436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12080" y="59436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989320" y="59436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6949440" y="1005840"/>
            <a:ext cx="4846320" cy="2514600"/>
          </a:xfrm>
          <a:prstGeom prst="roundRect">
            <a:avLst>
              <a:gd name="adj" fmla="val 5455"/>
            </a:avLst>
          </a:prstGeom>
          <a:solidFill>
            <a:srgbClr val="EEF2FF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3232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상세 페이지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132320" y="14447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행사명 / 장소 / 기간 / 요약 정보 카드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132320" y="186537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네이버 지도 딥링크 길찾기 버튼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132320" y="2286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원문 소스 URL 링크 제공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132320" y="27066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← 뒤로가기로 목록 복귀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949440" y="3657600"/>
            <a:ext cx="4846320" cy="27432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32320" y="37033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페이지 (관심 IP 관리)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132320" y="411480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관심 IP 목록 조회 — 이름 + 키워드 표시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132320" y="454456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+ IP 추가 버튼 → 바텀시트 모달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132320" y="497433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IP 이름 + 검색 키워드(쉼표 구분) 등록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132320" y="540410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삭제 버튼으로 즉시 제거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132320" y="583387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등록된 IP 기반으로 크롤러가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관련 행사 우선 수집 및 알림 발송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54864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CDK v2 인프라 구성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스택으로 모듈화된 서버리스 인프라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3749040" cy="2697480"/>
          </a:xfrm>
          <a:prstGeom prst="roundRect">
            <a:avLst>
              <a:gd name="adj" fmla="val 5085"/>
            </a:avLst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  DataStack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17904"/>
            <a:ext cx="3566160" cy="0"/>
          </a:xfrm>
          <a:prstGeom prst="line">
            <a:avLst/>
          </a:prstGeom>
          <a:noFill/>
          <a:ln w="63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Aurora PostgreSQL Serverless v2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DynamoDB (세션·알림 상태)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4140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ElastiCache Redis (캐시)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7980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OpenSearch (전문 검색)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182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VPC + Security Groups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0" y="1005840"/>
            <a:ext cx="3749040" cy="2697480"/>
          </a:xfrm>
          <a:prstGeom prst="roundRect">
            <a:avLst>
              <a:gd name="adj" fmla="val 5085"/>
            </a:avLst>
          </a:prstGeom>
          <a:solidFill>
            <a:srgbClr val="DBEAF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097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 ApiStack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1517904"/>
            <a:ext cx="3566160" cy="0"/>
          </a:xfrm>
          <a:prstGeom prst="line">
            <a:avLst/>
          </a:prstGeom>
          <a:noFill/>
          <a:ln w="63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6459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API Gateway REST API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34840" y="20299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API Gateway WebSocket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34840" y="24140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Lambda (Node.js 20, esbuild)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34840" y="27980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Cognito UserPool + Client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34840" y="3182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IAM Roles &amp; Policies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75320" y="1005840"/>
            <a:ext cx="3749040" cy="2697480"/>
          </a:xfrm>
          <a:prstGeom prst="roundRect">
            <a:avLst>
              <a:gd name="adj" fmla="val 5085"/>
            </a:avLst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1097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🕷️  CrawlerStack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66760" y="1517904"/>
            <a:ext cx="3566160" cy="0"/>
          </a:xfrm>
          <a:prstGeom prst="line">
            <a:avLst/>
          </a:prstGeom>
          <a:noFill/>
          <a:ln w="635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16459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Lambda Crawler Workers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12480" y="20299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SQS Queue (DLQ 포함)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12480" y="24140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EventBridge 스케줄러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412480" y="27980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Bedrock 권한 설정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0" y="3182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CloudWatch 로그 그룹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886200"/>
            <a:ext cx="3749040" cy="246888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776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⚛️  FrontendStack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1480" y="4398264"/>
            <a:ext cx="3566160" cy="0"/>
          </a:xfrm>
          <a:prstGeom prst="line">
            <a:avLst/>
          </a:prstGeom>
          <a:noFill/>
          <a:ln w="6350">
            <a:solidFill>
              <a:srgbClr val="4F4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26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S3 버킷 (정적 호스팅)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910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CloudFront Distribution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52943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ACM SSL 인증서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56784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Route53 레코드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0624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OAC (Origin Access Control)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97680" y="3886200"/>
            <a:ext cx="3749040" cy="2468880"/>
          </a:xfrm>
          <a:prstGeom prst="roundRect">
            <a:avLst>
              <a:gd name="adj" fmla="val 5556"/>
            </a:avLst>
          </a:prstGeom>
          <a:solidFill>
            <a:srgbClr val="EDE9FE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39776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 CertStack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89120" y="4398264"/>
            <a:ext cx="356616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34840" y="4526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ACM 인증서 (us-east-1)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434840" y="4910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도메인 검증 레코드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434840" y="52943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 Cross-region 참조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4F46E5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 범위 &amp; 향후 로드맵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914400"/>
            <a:ext cx="5577840" cy="5029200"/>
          </a:xfrm>
          <a:prstGeom prst="roundRect">
            <a:avLst>
              <a:gd name="adj" fmla="val 2727"/>
            </a:avLst>
          </a:prstGeom>
          <a:solidFill>
            <a:srgbClr val="EEF2FF">
              <a:alpha val="60000"/>
            </a:srgbClr>
          </a:solidFill>
          <a:ln w="7620">
            <a:solidFill>
              <a:srgbClr val="A5B4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M100 · v1.0 (현재)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4813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CDK v2 5개 스택 정의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1737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esbuild 번들링 설정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1579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21579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React SPA 기본 페이지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24140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행사 목록·필터·상세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26700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지도 뷰 (Naver Maps)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29260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MY 페이지 IP 관리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3467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5920" y="33467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행사 CRUD Lambda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36027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IP 관리 API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38587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WebSocket 연결 관리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2793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42793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EventBridge 스케줄러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5920" y="45354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SQS 기반 크롤러 워커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45920" y="47914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Bedrock 분류 파이프라인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91440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5B21B6">
              <a:alpha val="40000"/>
            </a:srgbClr>
          </a:solidFill>
          <a:ln w="7620">
            <a:solidFill>
              <a:srgbClr val="A5B4F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217920" y="10058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 M200 · v2.0 (계획)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1481328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5B21B6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48132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 캘린더 뷰 (FullCalendar 통합)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011680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5B21B6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01168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 이메일 알림 (SES + SNS 팬아웃)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542032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5B21B6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54203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 크롤러 소스 확장 (트위터 API v2)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072384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5B21B6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07238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 OpenSearch 전문 검색 UI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602736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5B21B6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60273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 관리자 대시보드 (크롤링 통계)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4133088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5B21B6">
              <a:alpha val="6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13308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 PWA (홈 화면 추가, 오프라인 캐시)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4663440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5B21B6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466344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🌏  다국어 지원 (일본어·영어)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5193792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5B21B6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519379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 소셜 로그인 (Google, Kakao)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0" y="612648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서브컬처 트래커 — 팬들이 행사를 놓치지 않도록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서브컬처 트래커 (SubCulture Tracker)</dc:title>
  <dc:subject>PptxGenJS Presentation</dc:subject>
  <dc:creator>SubCulture Tracker Team</dc:creator>
  <cp:lastModifiedBy>SubCulture Tracker Team</cp:lastModifiedBy>
  <cp:revision>1</cp:revision>
  <dcterms:created xsi:type="dcterms:W3CDTF">2026-06-05T01:43:23Z</dcterms:created>
  <dcterms:modified xsi:type="dcterms:W3CDTF">2026-06-05T01:43:23Z</dcterms:modified>
</cp:coreProperties>
</file>