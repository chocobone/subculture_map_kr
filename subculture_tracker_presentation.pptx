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914400"/>
            <a:ext cx="3657600" cy="3657600"/>
          </a:xfrm>
          <a:prstGeom prst="ellipse">
            <a:avLst/>
          </a:prstGeom>
          <a:solidFill>
            <a:srgbClr val="7C3AED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4572000"/>
            <a:ext cx="2743200" cy="2743200"/>
          </a:xfrm>
          <a:prstGeom prst="ellipse">
            <a:avLst/>
          </a:prstGeom>
          <a:solidFill>
            <a:srgbClr val="4F46E5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4F46E5">
              <a:alpha val="7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972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SubCulture Tracker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서브컬처 트래커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2606040"/>
            <a:ext cx="3657600" cy="45720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애니·게임 서브컬처 팝업스토어·한정행사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수집·정리 풀스택 웹 애플리케이션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3931920"/>
            <a:ext cx="1645920" cy="292608"/>
          </a:xfrm>
          <a:prstGeom prst="roundRect">
            <a:avLst>
              <a:gd name="adj" fmla="val 37500"/>
            </a:avLst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9319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697480" y="3931920"/>
            <a:ext cx="1645920" cy="292608"/>
          </a:xfrm>
          <a:prstGeom prst="roundRect">
            <a:avLst>
              <a:gd name="adj" fmla="val 37500"/>
            </a:avLst>
          </a:prstGeom>
          <a:solidFill>
            <a:srgbClr val="4F46E5"/>
          </a:solidFill>
          <a:ln/>
        </p:spPr>
      </p:sp>
      <p:sp>
        <p:nvSpPr>
          <p:cNvPr id="13" name="Text 11"/>
          <p:cNvSpPr/>
          <p:nvPr/>
        </p:nvSpPr>
        <p:spPr>
          <a:xfrm>
            <a:off x="2697480" y="39319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480560" y="3931920"/>
            <a:ext cx="1645920" cy="292608"/>
          </a:xfrm>
          <a:prstGeom prst="roundRect">
            <a:avLst>
              <a:gd name="adj" fmla="val 37500"/>
            </a:avLst>
          </a:prstGeom>
          <a:solidFill>
            <a:srgbClr val="4F46E5"/>
          </a:solidFill>
          <a:ln/>
        </p:spPr>
      </p:sp>
      <p:sp>
        <p:nvSpPr>
          <p:cNvPr id="15" name="Text 13"/>
          <p:cNvSpPr/>
          <p:nvPr/>
        </p:nvSpPr>
        <p:spPr>
          <a:xfrm>
            <a:off x="4480560" y="39319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CDK v2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1645920" cy="292608"/>
          </a:xfrm>
          <a:prstGeom prst="roundRect">
            <a:avLst>
              <a:gd name="adj" fmla="val 37500"/>
            </a:avLst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39319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Lambda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046720" y="3931920"/>
            <a:ext cx="1645920" cy="292608"/>
          </a:xfrm>
          <a:prstGeom prst="roundRect">
            <a:avLst>
              <a:gd name="adj" fmla="val 37500"/>
            </a:avLst>
          </a:prstGeom>
          <a:solidFill>
            <a:srgbClr val="4F46E5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0" y="39319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RDS PostgreSQL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829800" y="3931920"/>
            <a:ext cx="1645920" cy="292608"/>
          </a:xfrm>
          <a:prstGeom prst="roundRect">
            <a:avLst>
              <a:gd name="adj" fmla="val 37500"/>
            </a:avLst>
          </a:prstGeom>
          <a:solidFill>
            <a:srgbClr val="4F46E5"/>
          </a:solidFill>
          <a:ln/>
        </p:spPr>
      </p:sp>
      <p:sp>
        <p:nvSpPr>
          <p:cNvPr id="21" name="Text 19"/>
          <p:cNvSpPr/>
          <p:nvPr/>
        </p:nvSpPr>
        <p:spPr>
          <a:xfrm>
            <a:off x="9829800" y="39319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Bedrock AI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515600" y="6217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56032"/>
            <a:ext cx="54864" cy="3200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828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소개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서브컬처 트래커가 필요한가?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114300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5212080" cy="228600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97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😫  문제점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554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트위터·루리웹·네이버카페 등 여러 커뮤니티를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수동으로 매일 확인해야 함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0574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행사 정보가 분산되어 있어 놓치는 경우 다수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560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팝업·한정판 행사는 기간이 짧아 실시간 알림 필요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760720" y="1920240"/>
            <a:ext cx="640080" cy="548640"/>
          </a:xfrm>
          <a:prstGeom prst="rightArrow">
            <a:avLst/>
          </a:prstGeom>
          <a:solidFill>
            <a:srgbClr val="4F46E5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0" y="1005840"/>
            <a:ext cx="5212080" cy="228600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 w="635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1097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솔루션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766560" y="15544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다수 커뮤니티에서 행사 정보를 자동 크롤링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766560" y="1993392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Bedrock AI가 행사 유형·IP 자동 분류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66560" y="2432304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관심 IP 등록 시 새 행사 즉시 푸시 알림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66560" y="2871216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지도·캘린더 통합 뷰로 한눈에 확인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520440"/>
            <a:ext cx="27432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566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65760" y="3886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유형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6576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팝업/콜라보/굿즈/한정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1840" y="3520440"/>
            <a:ext cx="27432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3566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📡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91840" y="3886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소스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29184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트위터·루리웹·네이버카페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3520440"/>
            <a:ext cx="27432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3566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217920" y="3886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분류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21792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Bedrock Claude Haiku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144000" y="3520440"/>
            <a:ext cx="274320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0" y="35661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🔔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144000" y="3886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방식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9144000" y="41148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+ 앱 내 실시간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56032"/>
            <a:ext cx="54864" cy="3200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828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서버리스 기반 풀스택 아키텍처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114300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05156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EEF2FF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10515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프론트엔드 ]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219456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21945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API 레이어 ]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324612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F3C7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3246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크롤러 ]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425196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DCFCE7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" y="42519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데이터 ]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5257800"/>
            <a:ext cx="2011680" cy="256032"/>
          </a:xfrm>
          <a:prstGeom prst="roundRect">
            <a:avLst>
              <a:gd name="adj" fmla="val 28571"/>
            </a:avLst>
          </a:prstGeom>
          <a:solidFill>
            <a:srgbClr val="FEE2E2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" y="525780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알림 ]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468880" y="1005840"/>
            <a:ext cx="182880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10058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SPA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(CloudFront+S3)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434840" y="10058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EEF2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10058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Cognito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468880" y="2148840"/>
            <a:ext cx="1828800" cy="502920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68880" y="21488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Gateway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(REST + WS)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434840" y="21488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34840" y="21488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Lambda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Handler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035040" y="2148840"/>
            <a:ext cx="1463040" cy="502920"/>
          </a:xfrm>
          <a:prstGeom prst="roundRect">
            <a:avLst>
              <a:gd name="adj" fmla="val 18182"/>
            </a:avLst>
          </a:prstGeom>
          <a:solidFill>
            <a:srgbClr val="DBEAFE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0" y="214884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Lambda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68880" y="32004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32004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EventBridge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스케줄러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160520" y="320040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60520" y="32004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큐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69280" y="320040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0" y="320040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Lambda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Crawler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178040" y="320040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178040" y="320040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Bedrock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Haiku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68880" y="4206240"/>
            <a:ext cx="201168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420624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RDS PostgreSQL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db.t3.micro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17720" y="4206240"/>
            <a:ext cx="155448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0" y="4206240"/>
            <a:ext cx="155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DynamoDB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(세션/알림)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309360" y="420624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09360" y="42062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ElastiCache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Redis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818120" y="420624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DCFCE7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18120" y="420624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OpenSearch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(검색)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468880" y="521208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FEE2E2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52120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팬아웃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77640" y="5212080"/>
            <a:ext cx="1280160" cy="502920"/>
          </a:xfrm>
          <a:prstGeom prst="roundRect">
            <a:avLst>
              <a:gd name="adj" fmla="val 18182"/>
            </a:avLst>
          </a:prstGeom>
          <a:solidFill>
            <a:srgbClr val="FEE2E2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77640" y="521208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394960" y="5212080"/>
            <a:ext cx="1371600" cy="502920"/>
          </a:xfrm>
          <a:prstGeom prst="roundRect">
            <a:avLst>
              <a:gd name="adj" fmla="val 18182"/>
            </a:avLst>
          </a:prstGeom>
          <a:solidFill>
            <a:srgbClr val="FEE2E2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394960" y="521208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GW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326880" y="1005840"/>
            <a:ext cx="2560320" cy="4709160"/>
          </a:xfrm>
          <a:prstGeom prst="roundRect">
            <a:avLst>
              <a:gd name="adj" fmla="val 5357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9326880" y="1005840"/>
            <a:ext cx="2560320" cy="4709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🏗️ AWS CDK v2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(TypeScript)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인프라</a:t>
            </a:r>
            <a:endParaRPr lang="en-US" sz="9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코드화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9326880" y="5669280"/>
            <a:ext cx="2560320" cy="502920"/>
          </a:xfrm>
          <a:prstGeom prst="roundRect">
            <a:avLst>
              <a:gd name="adj" fmla="val 18182"/>
            </a:avLst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326880" y="566928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GitHub Actions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CI/CD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383280" y="1508760"/>
            <a:ext cx="0" cy="640080"/>
          </a:xfrm>
          <a:prstGeom prst="line">
            <a:avLst/>
          </a:prstGeom>
          <a:noFill/>
          <a:ln w="15240">
            <a:solidFill>
              <a:srgbClr val="4F46E5"/>
            </a:solidFill>
            <a:prstDash val="solid"/>
            <a:tailEnd type="arrow"/>
          </a:ln>
        </p:spPr>
      </p:sp>
      <p:sp>
        <p:nvSpPr>
          <p:cNvPr id="54" name="Shape 52"/>
          <p:cNvSpPr/>
          <p:nvPr/>
        </p:nvSpPr>
        <p:spPr>
          <a:xfrm>
            <a:off x="3383280" y="2651760"/>
            <a:ext cx="0" cy="548640"/>
          </a:xfrm>
          <a:prstGeom prst="line">
            <a:avLst/>
          </a:prstGeom>
          <a:noFill/>
          <a:ln w="15240">
            <a:solidFill>
              <a:srgbClr val="4F46E5"/>
            </a:solidFill>
            <a:prstDash val="solid"/>
            <a:tailEnd type="arrow"/>
          </a:ln>
        </p:spPr>
      </p:sp>
      <p:sp>
        <p:nvSpPr>
          <p:cNvPr id="55" name="Shape 53"/>
          <p:cNvSpPr/>
          <p:nvPr/>
        </p:nvSpPr>
        <p:spPr>
          <a:xfrm>
            <a:off x="4023360" y="3447288"/>
            <a:ext cx="137160" cy="0"/>
          </a:xfrm>
          <a:prstGeom prst="line">
            <a:avLst/>
          </a:prstGeom>
          <a:noFill/>
          <a:ln w="15240">
            <a:solidFill>
              <a:srgbClr val="4F46E5"/>
            </a:solidFill>
            <a:prstDash val="solid"/>
            <a:tailEnd type="arrow"/>
          </a:ln>
        </p:spPr>
      </p:sp>
      <p:sp>
        <p:nvSpPr>
          <p:cNvPr id="56" name="Shape 54"/>
          <p:cNvSpPr/>
          <p:nvPr/>
        </p:nvSpPr>
        <p:spPr>
          <a:xfrm>
            <a:off x="5532120" y="3447288"/>
            <a:ext cx="137160" cy="0"/>
          </a:xfrm>
          <a:prstGeom prst="line">
            <a:avLst/>
          </a:prstGeom>
          <a:noFill/>
          <a:ln w="15240">
            <a:solidFill>
              <a:srgbClr val="4F46E5"/>
            </a:solidFill>
            <a:prstDash val="solid"/>
            <a:tailEnd type="arrow"/>
          </a:ln>
        </p:spPr>
      </p:sp>
      <p:sp>
        <p:nvSpPr>
          <p:cNvPr id="57" name="Shape 55"/>
          <p:cNvSpPr/>
          <p:nvPr/>
        </p:nvSpPr>
        <p:spPr>
          <a:xfrm>
            <a:off x="7040880" y="3447288"/>
            <a:ext cx="137160" cy="0"/>
          </a:xfrm>
          <a:prstGeom prst="line">
            <a:avLst/>
          </a:prstGeom>
          <a:noFill/>
          <a:ln w="15240">
            <a:solidFill>
              <a:srgbClr val="4F46E5"/>
            </a:solidFill>
            <a:prstDash val="solid"/>
            <a:tailEnd type="arrow"/>
          </a:ln>
        </p:spPr>
      </p:sp>
      <p:sp>
        <p:nvSpPr>
          <p:cNvPr id="58" name="Shape 56"/>
          <p:cNvSpPr/>
          <p:nvPr/>
        </p:nvSpPr>
        <p:spPr>
          <a:xfrm>
            <a:off x="3474720" y="3703320"/>
            <a:ext cx="0" cy="502920"/>
          </a:xfrm>
          <a:prstGeom prst="line">
            <a:avLst/>
          </a:prstGeom>
          <a:noFill/>
          <a:ln w="15240">
            <a:solidFill>
              <a:srgbClr val="4F46E5"/>
            </a:solidFill>
            <a:prstDash val="solid"/>
            <a:tailEnd type="arrow"/>
          </a:ln>
        </p:spPr>
      </p:sp>
      <p:sp>
        <p:nvSpPr>
          <p:cNvPr id="59" name="Shape 57"/>
          <p:cNvSpPr/>
          <p:nvPr/>
        </p:nvSpPr>
        <p:spPr>
          <a:xfrm>
            <a:off x="3383280" y="2651760"/>
            <a:ext cx="0" cy="2560320"/>
          </a:xfrm>
          <a:prstGeom prst="line">
            <a:avLst/>
          </a:prstGeom>
          <a:noFill/>
          <a:ln w="15240">
            <a:solidFill>
              <a:srgbClr val="4F46E5"/>
            </a:solidFill>
            <a:prstDash val="solid"/>
            <a:tailEnd type="arrow"/>
          </a:ln>
        </p:spPr>
      </p:sp>
      <p:sp>
        <p:nvSpPr>
          <p:cNvPr id="60" name="Shape 58"/>
          <p:cNvSpPr/>
          <p:nvPr/>
        </p:nvSpPr>
        <p:spPr>
          <a:xfrm>
            <a:off x="3840480" y="5458968"/>
            <a:ext cx="137160" cy="0"/>
          </a:xfrm>
          <a:prstGeom prst="line">
            <a:avLst/>
          </a:prstGeom>
          <a:noFill/>
          <a:ln w="15240">
            <a:solidFill>
              <a:srgbClr val="4F46E5"/>
            </a:solidFill>
            <a:prstDash val="solid"/>
            <a:tailEnd type="arrow"/>
          </a:ln>
        </p:spPr>
      </p:sp>
      <p:sp>
        <p:nvSpPr>
          <p:cNvPr id="61" name="Shape 59"/>
          <p:cNvSpPr/>
          <p:nvPr/>
        </p:nvSpPr>
        <p:spPr>
          <a:xfrm>
            <a:off x="5257800" y="5458968"/>
            <a:ext cx="137160" cy="0"/>
          </a:xfrm>
          <a:prstGeom prst="line">
            <a:avLst/>
          </a:prstGeom>
          <a:noFill/>
          <a:ln w="15240">
            <a:solidFill>
              <a:srgbClr val="4F46E5"/>
            </a:solidFill>
            <a:prstDash val="solid"/>
            <a:tailEnd type="arrow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56032"/>
            <a:ext cx="54864" cy="3200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828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흐름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크롤링 → AI 분류 → DB 저장 → 사용자 알림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114300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2103120" cy="3474720"/>
          </a:xfrm>
          <a:prstGeom prst="roundRect">
            <a:avLst>
              <a:gd name="adj" fmla="val 6522"/>
            </a:avLst>
          </a:prstGeom>
          <a:solidFill>
            <a:srgbClr val="FEF3C7"/>
          </a:solidFill>
          <a:ln w="8890">
            <a:solidFill>
              <a:srgbClr val="D9770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3000" y="1097280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8288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" y="2468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커뮤니티 수집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EventBridge 스케줄러가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크롤러 Lambda 트리거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SQS로 작업 분배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14600" y="2560320"/>
            <a:ext cx="137160" cy="274320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14" name="Shape 12"/>
          <p:cNvSpPr/>
          <p:nvPr/>
        </p:nvSpPr>
        <p:spPr>
          <a:xfrm>
            <a:off x="2697480" y="1005840"/>
            <a:ext cx="2103120" cy="3474720"/>
          </a:xfrm>
          <a:prstGeom prst="roundRect">
            <a:avLst>
              <a:gd name="adj" fmla="val 6522"/>
            </a:avLst>
          </a:prstGeom>
          <a:solidFill>
            <a:srgbClr val="EEF2FF"/>
          </a:solidFill>
          <a:ln w="8890">
            <a:solidFill>
              <a:srgbClr val="4F46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1097280"/>
            <a:ext cx="548640" cy="548640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6" name="Text 14"/>
          <p:cNvSpPr/>
          <p:nvPr/>
        </p:nvSpPr>
        <p:spPr>
          <a:xfrm>
            <a:off x="3474720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97480" y="18288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697480" y="2468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분류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88920" y="288036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Bedrock Claude Haiku가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유형·IP·날짜·장소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추출 및 분류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46320" y="2560320"/>
            <a:ext cx="137160" cy="274320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21" name="Shape 19"/>
          <p:cNvSpPr/>
          <p:nvPr/>
        </p:nvSpPr>
        <p:spPr>
          <a:xfrm>
            <a:off x="5029200" y="1005840"/>
            <a:ext cx="2103120" cy="3474720"/>
          </a:xfrm>
          <a:prstGeom prst="roundRect">
            <a:avLst>
              <a:gd name="adj" fmla="val 6522"/>
            </a:avLst>
          </a:prstGeom>
          <a:solidFill>
            <a:srgbClr val="DCFCE7"/>
          </a:solidFill>
          <a:ln w="8890">
            <a:solidFill>
              <a:srgbClr val="16A34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06440" y="109728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5806440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0" y="18288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💾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029200" y="2468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저장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120640" y="288036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RDS PostgreSQL에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정제된 행사 데이터 저장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OpenSearch 인덱싱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178040" y="2560320"/>
            <a:ext cx="137160" cy="274320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28" name="Shape 26"/>
          <p:cNvSpPr/>
          <p:nvPr/>
        </p:nvSpPr>
        <p:spPr>
          <a:xfrm>
            <a:off x="7360920" y="1005840"/>
            <a:ext cx="2103120" cy="3474720"/>
          </a:xfrm>
          <a:prstGeom prst="roundRect">
            <a:avLst>
              <a:gd name="adj" fmla="val 6522"/>
            </a:avLst>
          </a:prstGeom>
          <a:solidFill>
            <a:srgbClr val="FEE2E2"/>
          </a:solidFill>
          <a:ln w="8890">
            <a:solidFill>
              <a:srgbClr val="DC262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38160" y="1097280"/>
            <a:ext cx="548640" cy="5486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8138160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360920" y="18288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🔔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360920" y="2468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발송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452360" y="288036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팬아웃으로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 이메일 + WebSocket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앱 내 알림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509760" y="2560320"/>
            <a:ext cx="137160" cy="274320"/>
          </a:xfrm>
          <a:prstGeom prst="rightArrow">
            <a:avLst/>
          </a:prstGeom>
          <a:solidFill>
            <a:srgbClr val="6B7280"/>
          </a:solidFill>
          <a:ln/>
        </p:spPr>
      </p:sp>
      <p:sp>
        <p:nvSpPr>
          <p:cNvPr id="35" name="Shape 33"/>
          <p:cNvSpPr/>
          <p:nvPr/>
        </p:nvSpPr>
        <p:spPr>
          <a:xfrm>
            <a:off x="9692640" y="1005840"/>
            <a:ext cx="2103120" cy="3474720"/>
          </a:xfrm>
          <a:prstGeom prst="roundRect">
            <a:avLst>
              <a:gd name="adj" fmla="val 6522"/>
            </a:avLst>
          </a:prstGeom>
          <a:solidFill>
            <a:srgbClr val="DBEAFE"/>
          </a:solidFill>
          <a:ln w="8890">
            <a:solidFill>
              <a:srgbClr val="3B82F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69880" y="109728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7" name="Text 35"/>
          <p:cNvSpPr/>
          <p:nvPr/>
        </p:nvSpPr>
        <p:spPr>
          <a:xfrm>
            <a:off x="10469880" y="1097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692640" y="18288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692640" y="24688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784080" y="2880360"/>
            <a:ext cx="1920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SPA에서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목록·지도·캘린더로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조회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5760" y="4754880"/>
            <a:ext cx="11430000" cy="1463040"/>
          </a:xfrm>
          <a:prstGeom prst="roundRect">
            <a:avLst>
              <a:gd name="adj" fmla="val 7500"/>
            </a:avLst>
          </a:prstGeom>
          <a:solidFill>
            <a:srgbClr val="1E1B4B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 핵심 포인트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0080" y="5166360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크롤러는 SQS를 통해 소스별로 병렬 처리 → 한 소스 실패가 전체에 영향 없음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0080" y="542239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Bedrock AI 분류로 동일 행사의 중복 등록 방지 (IP + 제목 유사도 체크)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0080" y="5678424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WebSocket API Gateway로 신규 행사 등록 즉시 열린 앱에 푸시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56032"/>
            <a:ext cx="54864" cy="3200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828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AWS 서버리스 서비스와 최신 프론트엔드 기술의 조합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114300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005840"/>
            <a:ext cx="5577840" cy="2606040"/>
          </a:xfrm>
          <a:prstGeom prst="roundRect">
            <a:avLst>
              <a:gd name="adj" fmla="val 5263"/>
            </a:avLst>
          </a:prstGeom>
          <a:solidFill>
            <a:srgbClr val="EEF2FF"/>
          </a:solidFill>
          <a:ln w="8890">
            <a:solidFill>
              <a:srgbClr val="4F46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9728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⚛️  프론트엔드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481328"/>
            <a:ext cx="5212080" cy="0"/>
          </a:xfrm>
          <a:prstGeom prst="line">
            <a:avLst/>
          </a:prstGeom>
          <a:noFill/>
          <a:ln w="6350">
            <a:solidFill>
              <a:srgbClr val="4F46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60020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6002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18 + TypeScript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60020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6002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Vite (빌드 도구)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148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1488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TanStack Query (서버 상태)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91840" y="2148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3280" y="21488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48640" y="26974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Router v6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91840" y="26974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4F46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Maps SDK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309360" y="1005840"/>
            <a:ext cx="5577840" cy="2606040"/>
          </a:xfrm>
          <a:prstGeom prst="roundRect">
            <a:avLst>
              <a:gd name="adj" fmla="val 5263"/>
            </a:avLst>
          </a:prstGeom>
          <a:solidFill>
            <a:srgbClr val="DBEAFE"/>
          </a:solidFill>
          <a:ln w="889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109728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 백엔드 / API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46520" y="1481328"/>
            <a:ext cx="5212080" cy="0"/>
          </a:xfrm>
          <a:prstGeom prst="line">
            <a:avLst/>
          </a:prstGeom>
          <a:noFill/>
          <a:ln w="6350">
            <a:solidFill>
              <a:srgbClr val="3B8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92240" y="160020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0" y="16002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Lambda (Node.js 20)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9235440" y="160020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3B82F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26880" y="160020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Gateway REST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492240" y="2148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3B82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21488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Gateway WebSocket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235440" y="2148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3B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326880" y="21488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Amazon Cognito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492240" y="26974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3B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SQS + EventBridge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9235440" y="26974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3B82F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26880" y="2697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esbuild 번들링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65760" y="3840480"/>
            <a:ext cx="5577840" cy="2606040"/>
          </a:xfrm>
          <a:prstGeom prst="roundRect">
            <a:avLst>
              <a:gd name="adj" fmla="val 5263"/>
            </a:avLst>
          </a:prstGeom>
          <a:solidFill>
            <a:srgbClr val="FEF3C7"/>
          </a:solidFill>
          <a:ln w="889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393192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🧠  AI / 데이터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02920" y="4315968"/>
            <a:ext cx="5212080" cy="0"/>
          </a:xfrm>
          <a:prstGeom prst="line">
            <a:avLst/>
          </a:prstGeom>
          <a:noFill/>
          <a:ln w="6350">
            <a:solidFill>
              <a:srgbClr val="D9770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" y="4434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44348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Bedrock (Claude Haiku)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91840" y="4434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83280" y="44348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RDS PostgreSQL db.t3.micro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48640" y="49834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4983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DynamoDB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291840" y="49834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83280" y="4983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ElastiCache Redis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48640" y="553212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D9770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080" y="55321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OpenSearch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309360" y="3840480"/>
            <a:ext cx="5577840" cy="2606040"/>
          </a:xfrm>
          <a:prstGeom prst="roundRect">
            <a:avLst>
              <a:gd name="adj" fmla="val 5263"/>
            </a:avLst>
          </a:prstGeom>
          <a:solidFill>
            <a:srgbClr val="DCFCE7"/>
          </a:solidFill>
          <a:ln w="8890">
            <a:solidFill>
              <a:srgbClr val="16A34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92240" y="393192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🏗️  인프라 / DevOps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446520" y="4315968"/>
            <a:ext cx="5212080" cy="0"/>
          </a:xfrm>
          <a:prstGeom prst="line">
            <a:avLst/>
          </a:prstGeom>
          <a:noFill/>
          <a:ln w="6350">
            <a:solidFill>
              <a:srgbClr val="16A34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492240" y="4434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16A34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83680" y="44348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CDK v2 (TypeScript)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9235440" y="443484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16A34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326880" y="443484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CI/CD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92240" y="49834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16A34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0" y="4983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CloudFront + S3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9235440" y="498348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16A34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326880" y="498348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SNS + SES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6492240" y="5532120"/>
            <a:ext cx="25603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5080">
            <a:solidFill>
              <a:srgbClr val="16A34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583680" y="5532120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ACM (SSL/TLS)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56032"/>
            <a:ext cx="54864" cy="3200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828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소개  ①  행사 목록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상태별 탭 + IP 필터로 원하는 행사를 빠르게 탐색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114300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005840"/>
            <a:ext cx="3291840" cy="5394960"/>
          </a:xfrm>
          <a:prstGeom prst="roundRect">
            <a:avLst>
              <a:gd name="adj" fmla="val 8333"/>
            </a:avLst>
          </a:prstGeom>
          <a:solidFill>
            <a:srgbClr val="F3F4F6"/>
          </a:solidFill>
          <a:ln w="19050">
            <a:solidFill>
              <a:srgbClr val="37415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71600" y="1005840"/>
            <a:ext cx="329184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508760" y="105156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9:41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371600" y="1261872"/>
            <a:ext cx="822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26187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94560" y="1261872"/>
            <a:ext cx="822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4560" y="1572768"/>
            <a:ext cx="822960" cy="36576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14" name="Text 12"/>
          <p:cNvSpPr/>
          <p:nvPr/>
        </p:nvSpPr>
        <p:spPr>
          <a:xfrm>
            <a:off x="2194560" y="126187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017520" y="1261872"/>
            <a:ext cx="822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017520" y="126187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840480" y="1261872"/>
            <a:ext cx="822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840480" y="126187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463040" y="1664208"/>
            <a:ext cx="731520" cy="256032"/>
          </a:xfrm>
          <a:prstGeom prst="roundRect">
            <a:avLst>
              <a:gd name="adj" fmla="val 35714"/>
            </a:avLst>
          </a:prstGeom>
          <a:solidFill>
            <a:srgbClr val="4F46E5"/>
          </a:solidFill>
          <a:ln/>
        </p:spPr>
      </p:sp>
      <p:sp>
        <p:nvSpPr>
          <p:cNvPr id="20" name="Text 18"/>
          <p:cNvSpPr/>
          <p:nvPr/>
        </p:nvSpPr>
        <p:spPr>
          <a:xfrm>
            <a:off x="1463040" y="166420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258568" y="1664208"/>
            <a:ext cx="731520" cy="256032"/>
          </a:xfrm>
          <a:prstGeom prst="roundRect">
            <a:avLst>
              <a:gd name="adj" fmla="val 35714"/>
            </a:avLst>
          </a:prstGeom>
          <a:solidFill>
            <a:srgbClr val="D1D5DB"/>
          </a:solidFill>
          <a:ln/>
        </p:spPr>
      </p:sp>
      <p:sp>
        <p:nvSpPr>
          <p:cNvPr id="22" name="Text 20"/>
          <p:cNvSpPr/>
          <p:nvPr/>
        </p:nvSpPr>
        <p:spPr>
          <a:xfrm>
            <a:off x="2258568" y="166420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원피스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3054096" y="1664208"/>
            <a:ext cx="731520" cy="256032"/>
          </a:xfrm>
          <a:prstGeom prst="roundRect">
            <a:avLst>
              <a:gd name="adj" fmla="val 35714"/>
            </a:avLst>
          </a:prstGeom>
          <a:solidFill>
            <a:srgbClr val="D1D5DB"/>
          </a:solidFill>
          <a:ln/>
        </p:spPr>
      </p:sp>
      <p:sp>
        <p:nvSpPr>
          <p:cNvPr id="24" name="Text 22"/>
          <p:cNvSpPr/>
          <p:nvPr/>
        </p:nvSpPr>
        <p:spPr>
          <a:xfrm>
            <a:off x="3054096" y="166420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귀멸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849624" y="1664208"/>
            <a:ext cx="731520" cy="256032"/>
          </a:xfrm>
          <a:prstGeom prst="roundRect">
            <a:avLst>
              <a:gd name="adj" fmla="val 35714"/>
            </a:avLst>
          </a:prstGeom>
          <a:solidFill>
            <a:srgbClr val="D1D5DB"/>
          </a:solidFill>
          <a:ln/>
        </p:spPr>
      </p:sp>
      <p:sp>
        <p:nvSpPr>
          <p:cNvPr id="26" name="Text 24"/>
          <p:cNvSpPr/>
          <p:nvPr/>
        </p:nvSpPr>
        <p:spPr>
          <a:xfrm>
            <a:off x="3849624" y="166420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스파패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481328" y="2029968"/>
            <a:ext cx="3072384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72768" y="218541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EEF2FF"/>
          </a:solidFill>
          <a:ln/>
        </p:spPr>
      </p:sp>
      <p:sp>
        <p:nvSpPr>
          <p:cNvPr id="29" name="Text 27"/>
          <p:cNvSpPr/>
          <p:nvPr/>
        </p:nvSpPr>
        <p:spPr>
          <a:xfrm>
            <a:off x="1572768" y="218541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148840" y="2185416"/>
            <a:ext cx="457200" cy="164592"/>
          </a:xfrm>
          <a:prstGeom prst="roundRect">
            <a:avLst>
              <a:gd name="adj" fmla="val 33333"/>
            </a:avLst>
          </a:prstGeom>
          <a:solidFill>
            <a:srgbClr val="16A34A"/>
          </a:solidFill>
          <a:ln/>
        </p:spPr>
      </p:sp>
      <p:sp>
        <p:nvSpPr>
          <p:cNvPr id="31" name="Text 29"/>
          <p:cNvSpPr/>
          <p:nvPr/>
        </p:nvSpPr>
        <p:spPr>
          <a:xfrm>
            <a:off x="2148840" y="2185416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550" dirty="0"/>
          </a:p>
        </p:txBody>
      </p:sp>
      <p:sp>
        <p:nvSpPr>
          <p:cNvPr id="32" name="Shape 30"/>
          <p:cNvSpPr/>
          <p:nvPr/>
        </p:nvSpPr>
        <p:spPr>
          <a:xfrm>
            <a:off x="2651760" y="2185416"/>
            <a:ext cx="384048" cy="164592"/>
          </a:xfrm>
          <a:prstGeom prst="roundRect">
            <a:avLst>
              <a:gd name="adj" fmla="val 33333"/>
            </a:avLst>
          </a:prstGeom>
          <a:solidFill>
            <a:srgbClr val="F3F4F6"/>
          </a:solidFill>
          <a:ln/>
        </p:spPr>
      </p:sp>
      <p:sp>
        <p:nvSpPr>
          <p:cNvPr id="33" name="Text 31"/>
          <p:cNvSpPr/>
          <p:nvPr/>
        </p:nvSpPr>
        <p:spPr>
          <a:xfrm>
            <a:off x="2651760" y="2185416"/>
            <a:ext cx="384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3977640" y="2185416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D-10</a:t>
            </a:r>
            <a:endParaRPr lang="en-US" sz="600" dirty="0"/>
          </a:p>
        </p:txBody>
      </p:sp>
      <p:sp>
        <p:nvSpPr>
          <p:cNvPr id="35" name="Text 33"/>
          <p:cNvSpPr/>
          <p:nvPr/>
        </p:nvSpPr>
        <p:spPr>
          <a:xfrm>
            <a:off x="2148840" y="237744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원피스 팝업스토어 홍대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2148840" y="2578608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홍대입구역 2번출구</a:t>
            </a:r>
            <a:endParaRPr lang="en-US" sz="650" dirty="0"/>
          </a:p>
        </p:txBody>
      </p:sp>
      <p:sp>
        <p:nvSpPr>
          <p:cNvPr id="37" name="Text 35"/>
          <p:cNvSpPr/>
          <p:nvPr/>
        </p:nvSpPr>
        <p:spPr>
          <a:xfrm>
            <a:off x="2148840" y="274320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2026.05.30 ~ 06.15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1481328" y="3081528"/>
            <a:ext cx="3072384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72768" y="323697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EEF2FF"/>
          </a:solidFill>
          <a:ln/>
        </p:spPr>
      </p:sp>
      <p:sp>
        <p:nvSpPr>
          <p:cNvPr id="40" name="Text 38"/>
          <p:cNvSpPr/>
          <p:nvPr/>
        </p:nvSpPr>
        <p:spPr>
          <a:xfrm>
            <a:off x="1572768" y="323697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148840" y="3236976"/>
            <a:ext cx="457200" cy="164592"/>
          </a:xfrm>
          <a:prstGeom prst="roundRect">
            <a:avLst>
              <a:gd name="adj" fmla="val 33333"/>
            </a:avLst>
          </a:prstGeom>
          <a:solidFill>
            <a:srgbClr val="16A34A"/>
          </a:solidFill>
          <a:ln/>
        </p:spPr>
      </p:sp>
      <p:sp>
        <p:nvSpPr>
          <p:cNvPr id="42" name="Text 40"/>
          <p:cNvSpPr/>
          <p:nvPr/>
        </p:nvSpPr>
        <p:spPr>
          <a:xfrm>
            <a:off x="2148840" y="3236976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2651760" y="3236976"/>
            <a:ext cx="384048" cy="164592"/>
          </a:xfrm>
          <a:prstGeom prst="roundRect">
            <a:avLst>
              <a:gd name="adj" fmla="val 33333"/>
            </a:avLst>
          </a:prstGeom>
          <a:solidFill>
            <a:srgbClr val="F3F4F6"/>
          </a:solidFill>
          <a:ln/>
        </p:spPr>
      </p:sp>
      <p:sp>
        <p:nvSpPr>
          <p:cNvPr id="44" name="Text 42"/>
          <p:cNvSpPr/>
          <p:nvPr/>
        </p:nvSpPr>
        <p:spPr>
          <a:xfrm>
            <a:off x="2651760" y="3236976"/>
            <a:ext cx="384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콜라보</a:t>
            </a:r>
            <a:endParaRPr lang="en-US" sz="550" dirty="0"/>
          </a:p>
        </p:txBody>
      </p:sp>
      <p:sp>
        <p:nvSpPr>
          <p:cNvPr id="45" name="Text 43"/>
          <p:cNvSpPr/>
          <p:nvPr/>
        </p:nvSpPr>
        <p:spPr>
          <a:xfrm>
            <a:off x="3977640" y="3236976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D-25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2148840" y="342900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귀멸의 칼날 x 스타벅스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2148840" y="3630168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스타벅스 전국 매장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148840" y="379476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2026.06.01 ~ 06.30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1481328" y="4133088"/>
            <a:ext cx="3072384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572768" y="428853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EEF2FF"/>
          </a:solidFill>
          <a:ln/>
        </p:spPr>
      </p:sp>
      <p:sp>
        <p:nvSpPr>
          <p:cNvPr id="51" name="Text 49"/>
          <p:cNvSpPr/>
          <p:nvPr/>
        </p:nvSpPr>
        <p:spPr>
          <a:xfrm>
            <a:off x="1572768" y="42885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148840" y="4288536"/>
            <a:ext cx="457200" cy="164592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/>
        </p:spPr>
      </p:sp>
      <p:sp>
        <p:nvSpPr>
          <p:cNvPr id="53" name="Text 51"/>
          <p:cNvSpPr/>
          <p:nvPr/>
        </p:nvSpPr>
        <p:spPr>
          <a:xfrm>
            <a:off x="2148840" y="4288536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550" dirty="0"/>
          </a:p>
        </p:txBody>
      </p:sp>
      <p:sp>
        <p:nvSpPr>
          <p:cNvPr id="54" name="Shape 52"/>
          <p:cNvSpPr/>
          <p:nvPr/>
        </p:nvSpPr>
        <p:spPr>
          <a:xfrm>
            <a:off x="2651760" y="4288536"/>
            <a:ext cx="384048" cy="164592"/>
          </a:xfrm>
          <a:prstGeom prst="roundRect">
            <a:avLst>
              <a:gd name="adj" fmla="val 33333"/>
            </a:avLst>
          </a:prstGeom>
          <a:solidFill>
            <a:srgbClr val="F3F4F6"/>
          </a:solidFill>
          <a:ln/>
        </p:spPr>
      </p:sp>
      <p:sp>
        <p:nvSpPr>
          <p:cNvPr id="55" name="Text 53"/>
          <p:cNvSpPr/>
          <p:nvPr/>
        </p:nvSpPr>
        <p:spPr>
          <a:xfrm>
            <a:off x="2651760" y="4288536"/>
            <a:ext cx="384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한정</a:t>
            </a:r>
            <a:endParaRPr lang="en-US" sz="550" dirty="0"/>
          </a:p>
        </p:txBody>
      </p:sp>
      <p:sp>
        <p:nvSpPr>
          <p:cNvPr id="56" name="Text 54"/>
          <p:cNvSpPr/>
          <p:nvPr/>
        </p:nvSpPr>
        <p:spPr>
          <a:xfrm>
            <a:off x="3977640" y="4288536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D-15</a:t>
            </a:r>
            <a:endParaRPr lang="en-US" sz="600" dirty="0"/>
          </a:p>
        </p:txBody>
      </p:sp>
      <p:sp>
        <p:nvSpPr>
          <p:cNvPr id="57" name="Text 55"/>
          <p:cNvSpPr/>
          <p:nvPr/>
        </p:nvSpPr>
        <p:spPr>
          <a:xfrm>
            <a:off x="2148840" y="448056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스파이×패밀리 한정 굿즈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2148840" y="4681728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코엑스 B2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2148840" y="484632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2026.06.20 ~ 06.22</a:t>
            </a:r>
            <a:endParaRPr lang="en-US" sz="650" dirty="0"/>
          </a:p>
        </p:txBody>
      </p:sp>
      <p:sp>
        <p:nvSpPr>
          <p:cNvPr id="60" name="Shape 58"/>
          <p:cNvSpPr/>
          <p:nvPr/>
        </p:nvSpPr>
        <p:spPr>
          <a:xfrm>
            <a:off x="1481328" y="5184648"/>
            <a:ext cx="3072384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572768" y="5340096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EEF2FF"/>
          </a:solidFill>
          <a:ln/>
        </p:spPr>
      </p:sp>
      <p:sp>
        <p:nvSpPr>
          <p:cNvPr id="62" name="Text 60"/>
          <p:cNvSpPr/>
          <p:nvPr/>
        </p:nvSpPr>
        <p:spPr>
          <a:xfrm>
            <a:off x="1572768" y="53400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🎁</a:t>
            </a:r>
            <a:endParaRPr lang="en-US" sz="1400" dirty="0"/>
          </a:p>
        </p:txBody>
      </p:sp>
      <p:sp>
        <p:nvSpPr>
          <p:cNvPr id="63" name="Shape 61"/>
          <p:cNvSpPr/>
          <p:nvPr/>
        </p:nvSpPr>
        <p:spPr>
          <a:xfrm>
            <a:off x="2148840" y="5340096"/>
            <a:ext cx="457200" cy="164592"/>
          </a:xfrm>
          <a:prstGeom prst="roundRect">
            <a:avLst>
              <a:gd name="adj" fmla="val 33333"/>
            </a:avLst>
          </a:prstGeom>
          <a:solidFill>
            <a:srgbClr val="6B7280"/>
          </a:solidFill>
          <a:ln/>
        </p:spPr>
      </p:sp>
      <p:sp>
        <p:nvSpPr>
          <p:cNvPr id="64" name="Text 62"/>
          <p:cNvSpPr/>
          <p:nvPr/>
        </p:nvSpPr>
        <p:spPr>
          <a:xfrm>
            <a:off x="2148840" y="5340096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</a:t>
            </a:r>
            <a:endParaRPr lang="en-US" sz="550" dirty="0"/>
          </a:p>
        </p:txBody>
      </p:sp>
      <p:sp>
        <p:nvSpPr>
          <p:cNvPr id="65" name="Shape 63"/>
          <p:cNvSpPr/>
          <p:nvPr/>
        </p:nvSpPr>
        <p:spPr>
          <a:xfrm>
            <a:off x="2651760" y="5340096"/>
            <a:ext cx="384048" cy="164592"/>
          </a:xfrm>
          <a:prstGeom prst="roundRect">
            <a:avLst>
              <a:gd name="adj" fmla="val 33333"/>
            </a:avLst>
          </a:prstGeom>
          <a:solidFill>
            <a:srgbClr val="F3F4F6"/>
          </a:solidFill>
          <a:ln/>
        </p:spPr>
      </p:sp>
      <p:sp>
        <p:nvSpPr>
          <p:cNvPr id="66" name="Text 64"/>
          <p:cNvSpPr/>
          <p:nvPr/>
        </p:nvSpPr>
        <p:spPr>
          <a:xfrm>
            <a:off x="2651760" y="5340096"/>
            <a:ext cx="384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굿즈</a:t>
            </a:r>
            <a:endParaRPr lang="en-US" sz="550" dirty="0"/>
          </a:p>
        </p:txBody>
      </p:sp>
      <p:sp>
        <p:nvSpPr>
          <p:cNvPr id="67" name="Text 65"/>
          <p:cNvSpPr/>
          <p:nvPr/>
        </p:nvSpPr>
        <p:spPr>
          <a:xfrm>
            <a:off x="2148840" y="553212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진격의 거인 최종화 기념전</a:t>
            </a:r>
            <a:endParaRPr lang="en-US" sz="750" dirty="0"/>
          </a:p>
        </p:txBody>
      </p:sp>
      <p:sp>
        <p:nvSpPr>
          <p:cNvPr id="68" name="Text 66"/>
          <p:cNvSpPr/>
          <p:nvPr/>
        </p:nvSpPr>
        <p:spPr>
          <a:xfrm>
            <a:off x="2148840" y="5733288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홍익문화공원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2148840" y="5897880"/>
            <a:ext cx="2377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2026.05.01 ~ 05.20</a:t>
            </a:r>
            <a:endParaRPr lang="en-US" sz="650" dirty="0"/>
          </a:p>
        </p:txBody>
      </p:sp>
      <p:sp>
        <p:nvSpPr>
          <p:cNvPr id="70" name="Shape 68"/>
          <p:cNvSpPr/>
          <p:nvPr/>
        </p:nvSpPr>
        <p:spPr>
          <a:xfrm>
            <a:off x="1371600" y="5943600"/>
            <a:ext cx="32918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371600" y="59436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2194560" y="59436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</a:t>
            </a:r>
            <a:endParaRPr lang="en-US" sz="600" dirty="0"/>
          </a:p>
        </p:txBody>
      </p:sp>
      <p:sp>
        <p:nvSpPr>
          <p:cNvPr id="73" name="Text 71"/>
          <p:cNvSpPr/>
          <p:nvPr/>
        </p:nvSpPr>
        <p:spPr>
          <a:xfrm>
            <a:off x="3017520" y="59436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</a:t>
            </a:r>
            <a:endParaRPr lang="en-US" sz="600" dirty="0"/>
          </a:p>
        </p:txBody>
      </p:sp>
      <p:sp>
        <p:nvSpPr>
          <p:cNvPr id="74" name="Text 72"/>
          <p:cNvSpPr/>
          <p:nvPr/>
        </p:nvSpPr>
        <p:spPr>
          <a:xfrm>
            <a:off x="3840480" y="59436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</a:t>
            </a:r>
            <a:endParaRPr lang="en-US" sz="600" dirty="0"/>
          </a:p>
        </p:txBody>
      </p:sp>
      <p:sp>
        <p:nvSpPr>
          <p:cNvPr id="75" name="Shape 73"/>
          <p:cNvSpPr/>
          <p:nvPr/>
        </p:nvSpPr>
        <p:spPr>
          <a:xfrm>
            <a:off x="5029200" y="1005840"/>
            <a:ext cx="6675120" cy="5394960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303520" y="10972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기능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5212080" y="1554480"/>
            <a:ext cx="6217920" cy="777240"/>
          </a:xfrm>
          <a:prstGeom prst="roundRect">
            <a:avLst>
              <a:gd name="adj" fmla="val 11765"/>
            </a:avLst>
          </a:prstGeom>
          <a:solidFill>
            <a:srgbClr val="EEF2FF"/>
          </a:solidFill>
          <a:ln w="3810">
            <a:solidFill>
              <a:srgbClr val="A5B4F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349240" y="1600200"/>
            <a:ext cx="274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🔹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5669280" y="160020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탭 필터 — 전체 / 진행중 / 예정 / 종료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탭으로 원하는 행사만 빠르게 확인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212080" y="2468880"/>
            <a:ext cx="6217920" cy="777240"/>
          </a:xfrm>
          <a:prstGeom prst="roundRect">
            <a:avLst>
              <a:gd name="adj" fmla="val 11765"/>
            </a:avLst>
          </a:prstGeom>
          <a:solidFill>
            <a:srgbClr val="EEF2FF"/>
          </a:solidFill>
          <a:ln w="3810">
            <a:solidFill>
              <a:srgbClr val="A5B4FC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9240" y="2514600"/>
            <a:ext cx="274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🔹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5669280" y="251460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필터 칩 — 등록한 관심 IP별로 필터링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스크롤 가능한 칩 UI로 여러 IP 지원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5212080" y="3383280"/>
            <a:ext cx="6217920" cy="777240"/>
          </a:xfrm>
          <a:prstGeom prst="roundRect">
            <a:avLst>
              <a:gd name="adj" fmla="val 11765"/>
            </a:avLst>
          </a:prstGeom>
          <a:solidFill>
            <a:srgbClr val="EEF2FF"/>
          </a:solidFill>
          <a:ln w="3810">
            <a:solidFill>
              <a:srgbClr val="A5B4F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349240" y="3429000"/>
            <a:ext cx="274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🔹</a:t>
            </a:r>
            <a:endParaRPr lang="en-US" sz="1100" dirty="0"/>
          </a:p>
        </p:txBody>
      </p:sp>
      <p:sp>
        <p:nvSpPr>
          <p:cNvPr id="85" name="Text 83"/>
          <p:cNvSpPr/>
          <p:nvPr/>
        </p:nvSpPr>
        <p:spPr>
          <a:xfrm>
            <a:off x="5669280" y="342900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카드 — 타입 아이콘, 상태 배지, D-Day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장소·기간 한눈에 확인 후 탭하면 상세 페이지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5212080" y="4297680"/>
            <a:ext cx="6217920" cy="777240"/>
          </a:xfrm>
          <a:prstGeom prst="roundRect">
            <a:avLst>
              <a:gd name="adj" fmla="val 11765"/>
            </a:avLst>
          </a:prstGeom>
          <a:solidFill>
            <a:srgbClr val="EEF2FF"/>
          </a:solidFill>
          <a:ln w="3810">
            <a:solidFill>
              <a:srgbClr val="A5B4F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49240" y="4343400"/>
            <a:ext cx="274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🔹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5669280" y="434340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갱신 — WebSocket으로 새 행사 등록 시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새로고침 없이 피드에 자동 추가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5212080" y="5212080"/>
            <a:ext cx="6217920" cy="777240"/>
          </a:xfrm>
          <a:prstGeom prst="roundRect">
            <a:avLst>
              <a:gd name="adj" fmla="val 11765"/>
            </a:avLst>
          </a:prstGeom>
          <a:solidFill>
            <a:srgbClr val="EEF2FF"/>
          </a:solidFill>
          <a:ln w="3810">
            <a:solidFill>
              <a:srgbClr val="A5B4FC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49240" y="5257800"/>
            <a:ext cx="274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🔹</a:t>
            </a:r>
            <a:endParaRPr lang="en-US" sz="1100" dirty="0"/>
          </a:p>
        </p:txBody>
      </p:sp>
      <p:sp>
        <p:nvSpPr>
          <p:cNvPr id="91" name="Text 89"/>
          <p:cNvSpPr/>
          <p:nvPr/>
        </p:nvSpPr>
        <p:spPr>
          <a:xfrm>
            <a:off x="5669280" y="525780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무한 스크롤 — TanStack Query로 페이지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 없이 자연스럽게 로드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56032"/>
            <a:ext cx="54864" cy="3200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828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소개  ②  지도 뷰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Maps 기반 행사 위치 핀 + 바텀시트 상세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114300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005840"/>
            <a:ext cx="3291840" cy="5394960"/>
          </a:xfrm>
          <a:prstGeom prst="roundRect">
            <a:avLst>
              <a:gd name="adj" fmla="val 8333"/>
            </a:avLst>
          </a:prstGeom>
          <a:solidFill>
            <a:srgbClr val="F3F4F6"/>
          </a:solidFill>
          <a:ln w="19050">
            <a:solidFill>
              <a:srgbClr val="37415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71600" y="1005840"/>
            <a:ext cx="3291840" cy="4937760"/>
          </a:xfrm>
          <a:prstGeom prst="rect">
            <a:avLst/>
          </a:prstGeom>
          <a:solidFill>
            <a:srgbClr val="D4E6A8"/>
          </a:solidFill>
          <a:ln/>
        </p:spPr>
      </p:sp>
      <p:sp>
        <p:nvSpPr>
          <p:cNvPr id="9" name="Shape 7"/>
          <p:cNvSpPr/>
          <p:nvPr/>
        </p:nvSpPr>
        <p:spPr>
          <a:xfrm>
            <a:off x="1371600" y="2651760"/>
            <a:ext cx="329184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3931920"/>
            <a:ext cx="3291840" cy="1097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2468880" y="1280160"/>
            <a:ext cx="109728" cy="4663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3931920" y="1280160"/>
            <a:ext cx="109728" cy="46634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481328" y="1298448"/>
            <a:ext cx="960120" cy="274320"/>
          </a:xfrm>
          <a:prstGeom prst="roundRect">
            <a:avLst>
              <a:gd name="adj" fmla="val 40000"/>
            </a:avLst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81328" y="1298448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532888" y="1298448"/>
            <a:ext cx="960120" cy="2743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32888" y="1298448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원피스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584448" y="1298448"/>
            <a:ext cx="960120" cy="2743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84448" y="1298448"/>
            <a:ext cx="960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귀멸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2011680" y="2286000"/>
            <a:ext cx="292608" cy="292608"/>
          </a:xfrm>
          <a:prstGeom prst="ellipse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11680" y="2286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0" y="3291840"/>
            <a:ext cx="292608" cy="292608"/>
          </a:xfrm>
          <a:prstGeom prst="ellipse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32918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633472" y="1627632"/>
            <a:ext cx="502920" cy="502920"/>
          </a:xfrm>
          <a:prstGeom prst="ellipse">
            <a:avLst/>
          </a:prstGeom>
          <a:solidFill>
            <a:srgbClr val="4F46E5">
              <a:alpha val="6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2743200" y="1737360"/>
            <a:ext cx="292608" cy="292608"/>
          </a:xfrm>
          <a:prstGeom prst="ellipse">
            <a:avLst/>
          </a:prstGeom>
          <a:solidFill>
            <a:srgbClr val="4F46E5"/>
          </a:solidFill>
          <a:ln w="6350">
            <a:solidFill>
              <a:srgbClr val="4F46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17373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931920" y="2103120"/>
            <a:ext cx="292608" cy="292608"/>
          </a:xfrm>
          <a:prstGeom prst="ellipse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931920" y="2103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🎁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371600" y="4251960"/>
            <a:ext cx="329184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0" y="4343400"/>
            <a:ext cx="548640" cy="54864"/>
          </a:xfrm>
          <a:prstGeom prst="roundRect">
            <a:avLst>
              <a:gd name="adj" fmla="val 50000"/>
            </a:avLst>
          </a:prstGeom>
          <a:solidFill>
            <a:srgbClr val="D1D5DB"/>
          </a:solidFill>
          <a:ln/>
        </p:spPr>
      </p:sp>
      <p:sp>
        <p:nvSpPr>
          <p:cNvPr id="30" name="Text 28"/>
          <p:cNvSpPr/>
          <p:nvPr/>
        </p:nvSpPr>
        <p:spPr>
          <a:xfrm>
            <a:off x="1508760" y="4480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011680" y="4498848"/>
            <a:ext cx="548640" cy="164592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/>
        </p:spPr>
      </p:sp>
      <p:sp>
        <p:nvSpPr>
          <p:cNvPr id="32" name="Text 30"/>
          <p:cNvSpPr/>
          <p:nvPr/>
        </p:nvSpPr>
        <p:spPr>
          <a:xfrm>
            <a:off x="2011680" y="449884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예정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2011680" y="4709160"/>
            <a:ext cx="24688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스파이×패밀리 한정 굿즈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011680" y="491947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코엑스 B2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011680" y="5102352"/>
            <a:ext cx="2468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2026.06.20 ~ 06.22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1508760" y="5349240"/>
            <a:ext cx="3017520" cy="320040"/>
          </a:xfrm>
          <a:prstGeom prst="roundRect">
            <a:avLst>
              <a:gd name="adj" fmla="val 28571"/>
            </a:avLst>
          </a:prstGeom>
          <a:solidFill>
            <a:srgbClr val="4F46E5"/>
          </a:solidFill>
          <a:ln/>
        </p:spPr>
      </p:sp>
      <p:sp>
        <p:nvSpPr>
          <p:cNvPr id="37" name="Text 35"/>
          <p:cNvSpPr/>
          <p:nvPr/>
        </p:nvSpPr>
        <p:spPr>
          <a:xfrm>
            <a:off x="1508760" y="534924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보기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371600" y="5943600"/>
            <a:ext cx="329184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59436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2194560" y="59436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</a:t>
            </a:r>
            <a:endParaRPr lang="en-US" sz="600" dirty="0"/>
          </a:p>
        </p:txBody>
      </p:sp>
      <p:sp>
        <p:nvSpPr>
          <p:cNvPr id="41" name="Text 39"/>
          <p:cNvSpPr/>
          <p:nvPr/>
        </p:nvSpPr>
        <p:spPr>
          <a:xfrm>
            <a:off x="3017520" y="59436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840480" y="59436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</a:t>
            </a:r>
            <a:endParaRPr lang="en-US" sz="600" dirty="0"/>
          </a:p>
        </p:txBody>
      </p:sp>
      <p:sp>
        <p:nvSpPr>
          <p:cNvPr id="43" name="Shape 41"/>
          <p:cNvSpPr/>
          <p:nvPr/>
        </p:nvSpPr>
        <p:spPr>
          <a:xfrm>
            <a:off x="5029200" y="1005840"/>
            <a:ext cx="6675120" cy="5394960"/>
          </a:xfrm>
          <a:prstGeom prst="roundRect">
            <a:avLst>
              <a:gd name="adj" fmla="val 2542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03520" y="109728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기능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5212080" y="1554480"/>
            <a:ext cx="6217920" cy="1005840"/>
          </a:xfrm>
          <a:prstGeom prst="roundRect">
            <a:avLst>
              <a:gd name="adj" fmla="val 9091"/>
            </a:avLst>
          </a:prstGeom>
          <a:solidFill>
            <a:srgbClr val="DCFCE7"/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49240" y="164592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en-US" sz="1600" dirty="0"/>
          </a:p>
        </p:txBody>
      </p:sp>
      <p:sp>
        <p:nvSpPr>
          <p:cNvPr id="47" name="Text 45"/>
          <p:cNvSpPr/>
          <p:nvPr/>
        </p:nvSpPr>
        <p:spPr>
          <a:xfrm>
            <a:off x="5760720" y="16459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Maps 핀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장소에 타입별 핀 표시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latLng 좌표 저장 → 크롤링 시 자동 지오코딩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12080" y="2697480"/>
            <a:ext cx="6217920" cy="1005840"/>
          </a:xfrm>
          <a:prstGeom prst="roundRect">
            <a:avLst>
              <a:gd name="adj" fmla="val 9091"/>
            </a:avLst>
          </a:prstGeom>
          <a:solidFill>
            <a:srgbClr val="DCFCE7"/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49240" y="278892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🏷️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5760720" y="27889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IP 필터 칩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위에 플로팅 칩으로 IP별 핀 필터링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페이지와 동일한 UX 패턴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212080" y="3840480"/>
            <a:ext cx="6217920" cy="1005840"/>
          </a:xfrm>
          <a:prstGeom prst="roundRect">
            <a:avLst>
              <a:gd name="adj" fmla="val 9091"/>
            </a:avLst>
          </a:prstGeom>
          <a:solidFill>
            <a:srgbClr val="DCFCE7"/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49240" y="393192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5760720" y="39319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바텀시트 상세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탭 시 하단에서 슬라이드업 되는 미리보기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제목·장소·기간·상태 확인 후 상세 이동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212080" y="4983480"/>
            <a:ext cx="6217920" cy="1005840"/>
          </a:xfrm>
          <a:prstGeom prst="roundRect">
            <a:avLst>
              <a:gd name="adj" fmla="val 9091"/>
            </a:avLst>
          </a:prstGeom>
          <a:solidFill>
            <a:srgbClr val="DCFCE7"/>
          </a:solidFill>
          <a:ln w="381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49240" y="5074920"/>
            <a:ext cx="365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</a:t>
            </a:r>
            <a:endParaRPr lang="en-US" sz="1600" dirty="0"/>
          </a:p>
        </p:txBody>
      </p:sp>
      <p:sp>
        <p:nvSpPr>
          <p:cNvPr id="56" name="Text 54"/>
          <p:cNvSpPr/>
          <p:nvPr/>
        </p:nvSpPr>
        <p:spPr>
          <a:xfrm>
            <a:off x="5760720" y="50749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SDK 실패 폴백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Naver Maps API 로드 실패 시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 탭으로 안내하는 에러 UI 제공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56032"/>
            <a:ext cx="54864" cy="3200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828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소개  ③  행사 상세 / MY 페이지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상세 정보 조회 및 관심 IP 관리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114300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1005840"/>
            <a:ext cx="3108960" cy="5394960"/>
          </a:xfrm>
          <a:prstGeom prst="roundRect">
            <a:avLst>
              <a:gd name="adj" fmla="val 8824"/>
            </a:avLst>
          </a:prstGeom>
          <a:solidFill>
            <a:srgbClr val="F3F4F6"/>
          </a:solidFill>
          <a:ln w="19050">
            <a:solidFill>
              <a:srgbClr val="37415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005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384048" y="1078992"/>
            <a:ext cx="274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0972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원피스 팝업스토어 홍대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74320" y="1508760"/>
            <a:ext cx="3108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384048" y="1572768"/>
            <a:ext cx="502920" cy="182880"/>
          </a:xfrm>
          <a:prstGeom prst="roundRect">
            <a:avLst>
              <a:gd name="adj" fmla="val 30000"/>
            </a:avLst>
          </a:prstGeom>
          <a:solidFill>
            <a:srgbClr val="16A34A"/>
          </a:solidFill>
          <a:ln/>
        </p:spPr>
      </p:sp>
      <p:sp>
        <p:nvSpPr>
          <p:cNvPr id="13" name="Text 11"/>
          <p:cNvSpPr/>
          <p:nvPr/>
        </p:nvSpPr>
        <p:spPr>
          <a:xfrm>
            <a:off x="384048" y="1572768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진행중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950976" y="1572768"/>
            <a:ext cx="411480" cy="182880"/>
          </a:xfrm>
          <a:prstGeom prst="roundRect">
            <a:avLst>
              <a:gd name="adj" fmla="val 30000"/>
            </a:avLst>
          </a:prstGeom>
          <a:solidFill>
            <a:srgbClr val="F3F4F6"/>
          </a:solidFill>
          <a:ln/>
        </p:spPr>
      </p:sp>
      <p:sp>
        <p:nvSpPr>
          <p:cNvPr id="15" name="Text 13"/>
          <p:cNvSpPr/>
          <p:nvPr/>
        </p:nvSpPr>
        <p:spPr>
          <a:xfrm>
            <a:off x="950976" y="1572768"/>
            <a:ext cx="411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384048" y="1965960"/>
            <a:ext cx="2889504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" y="210312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행사명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078992" y="21031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원피스 팝업스토어 홍대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5488" y="2496312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078992" y="2496312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홍대입구역 2번출구 옆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" y="2889504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1078992" y="2889504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2026.05.30 ~ 06.15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75488" y="3282696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1078992" y="328269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원피스 25주년 기념 공식 팝업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84048" y="3931920"/>
            <a:ext cx="2889504" cy="384048"/>
          </a:xfrm>
          <a:prstGeom prst="roundRect">
            <a:avLst>
              <a:gd name="adj" fmla="val 23810"/>
            </a:avLst>
          </a:prstGeom>
          <a:solidFill>
            <a:srgbClr val="16A34A"/>
          </a:solidFill>
          <a:ln/>
        </p:spPr>
      </p:sp>
      <p:sp>
        <p:nvSpPr>
          <p:cNvPr id="26" name="Text 24"/>
          <p:cNvSpPr/>
          <p:nvPr/>
        </p:nvSpPr>
        <p:spPr>
          <a:xfrm>
            <a:off x="384048" y="3931920"/>
            <a:ext cx="28895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 네이버 지도로 길찾기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84048" y="4434840"/>
            <a:ext cx="2889504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4048" y="4434840"/>
            <a:ext cx="28895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보기 →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274320" y="5943600"/>
            <a:ext cx="31089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594360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1051560" y="594360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</a:t>
            </a:r>
            <a:endParaRPr lang="en-US" sz="600" dirty="0"/>
          </a:p>
        </p:txBody>
      </p:sp>
      <p:sp>
        <p:nvSpPr>
          <p:cNvPr id="32" name="Text 30"/>
          <p:cNvSpPr/>
          <p:nvPr/>
        </p:nvSpPr>
        <p:spPr>
          <a:xfrm>
            <a:off x="1828800" y="594360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2606040" y="594360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</a:t>
            </a:r>
            <a:endParaRPr lang="en-US" sz="600" dirty="0"/>
          </a:p>
        </p:txBody>
      </p:sp>
      <p:sp>
        <p:nvSpPr>
          <p:cNvPr id="34" name="Shape 32"/>
          <p:cNvSpPr/>
          <p:nvPr/>
        </p:nvSpPr>
        <p:spPr>
          <a:xfrm>
            <a:off x="3657600" y="1005840"/>
            <a:ext cx="3108960" cy="5394960"/>
          </a:xfrm>
          <a:prstGeom prst="roundRect">
            <a:avLst>
              <a:gd name="adj" fmla="val 8824"/>
            </a:avLst>
          </a:prstGeom>
          <a:solidFill>
            <a:srgbClr val="F3F4F6"/>
          </a:solidFill>
          <a:ln w="19050">
            <a:solidFill>
              <a:srgbClr val="37415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57600" y="1005840"/>
            <a:ext cx="310896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3794760" y="107899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794760" y="1280160"/>
            <a:ext cx="16459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user@example.com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5943600" y="1115568"/>
            <a:ext cx="731520" cy="292608"/>
          </a:xfrm>
          <a:prstGeom prst="roundRect">
            <a:avLst>
              <a:gd name="adj" fmla="val 25000"/>
            </a:avLst>
          </a:prstGeom>
          <a:solidFill>
            <a:srgbClr val="4F46E5"/>
          </a:solidFill>
          <a:ln/>
        </p:spPr>
      </p:sp>
      <p:sp>
        <p:nvSpPr>
          <p:cNvPr id="39" name="Text 37"/>
          <p:cNvSpPr/>
          <p:nvPr/>
        </p:nvSpPr>
        <p:spPr>
          <a:xfrm>
            <a:off x="5943600" y="111556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IP 추가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3794760" y="1645920"/>
            <a:ext cx="28346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31920" y="173736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원피스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931920" y="1975104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원피스 · OP · 루피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217920" y="1783080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3794760" y="2395728"/>
            <a:ext cx="28346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31920" y="248716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귀멸의 칼날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931920" y="2724912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귀멸 · kimetsu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217920" y="2532888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3794760" y="3145536"/>
            <a:ext cx="28346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31920" y="323697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스파이×패밀리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3931920" y="3474720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스파패 · SPY×FAMILY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217920" y="3282696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794760" y="3895344"/>
            <a:ext cx="28346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31920" y="398678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나루토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3931920" y="4224528"/>
            <a:ext cx="2103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나루토 · NARUTO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217920" y="4032504"/>
            <a:ext cx="3657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3657600" y="5943600"/>
            <a:ext cx="310896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D1D5D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657600" y="594360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4434840" y="594360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5212080" y="594360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캘린더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5989320" y="594360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</a:t>
            </a:r>
            <a:endParaRPr lang="en-US" sz="600" dirty="0"/>
          </a:p>
        </p:txBody>
      </p:sp>
      <p:sp>
        <p:nvSpPr>
          <p:cNvPr id="61" name="Shape 59"/>
          <p:cNvSpPr/>
          <p:nvPr/>
        </p:nvSpPr>
        <p:spPr>
          <a:xfrm>
            <a:off x="6949440" y="1005840"/>
            <a:ext cx="4846320" cy="2514600"/>
          </a:xfrm>
          <a:prstGeom prst="roundRect">
            <a:avLst>
              <a:gd name="adj" fmla="val 5455"/>
            </a:avLst>
          </a:prstGeom>
          <a:solidFill>
            <a:srgbClr val="EEF2FF"/>
          </a:solidFill>
          <a:ln w="6350">
            <a:solidFill>
              <a:srgbClr val="4F46E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3232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행사 상세 페이지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132320" y="1444752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행사명 / 장소 / 기간 / 요약 정보 카드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7132320" y="1865376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네이버 지도 딥링크 길찾기 버튼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132320" y="22860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원문 소스 URL 링크 제공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132320" y="2706624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← 뒤로가기로 목록 복귀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6949440" y="3657600"/>
            <a:ext cx="4846320" cy="274320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132320" y="370332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 페이지 (관심 IP 관리)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7132320" y="411480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관심 IP 목록 조회 — 이름 + 키워드 표시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7132320" y="4544568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+ IP 추가 버튼 → 바텀시트 모달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132320" y="4974336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IP 이름 + 검색 키워드(쉼표 구분) 등록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7132320" y="5404104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삭제 버튼으로 즉시 제거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7132320" y="5833872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등록된 IP 기반으로 크롤러가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관련 행사 우선 수집 및 알림 발송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Shape 1"/>
          <p:cNvSpPr/>
          <p:nvPr/>
        </p:nvSpPr>
        <p:spPr>
          <a:xfrm>
            <a:off x="365760" y="256032"/>
            <a:ext cx="54864" cy="320040"/>
          </a:xfrm>
          <a:prstGeom prst="rect">
            <a:avLst/>
          </a:prstGeom>
          <a:solidFill>
            <a:srgbClr val="4F46E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8288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AWS CDK v2 인프라 구성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스택으로 모듈화된 서버리스 인프라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914400"/>
            <a:ext cx="114300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1005840"/>
            <a:ext cx="3749040" cy="2697480"/>
          </a:xfrm>
          <a:prstGeom prst="roundRect">
            <a:avLst>
              <a:gd name="adj" fmla="val 5085"/>
            </a:avLst>
          </a:prstGeom>
          <a:solidFill>
            <a:srgbClr val="DCFCE7"/>
          </a:solidFill>
          <a:ln w="1016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972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💾  DataStack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1517904"/>
            <a:ext cx="3566160" cy="0"/>
          </a:xfrm>
          <a:prstGeom prst="line">
            <a:avLst/>
          </a:prstGeom>
          <a:noFill/>
          <a:ln w="6350">
            <a:solidFill>
              <a:srgbClr val="16A3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64592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RDS PostgreSQL db.t3.micro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0299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DynamoDB (세션·알림 상태)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241401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ElastiCache Redis (캐시)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279806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OpenSearch (전문 검색)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57200" y="318211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VPC + Security Groups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97680" y="1005840"/>
            <a:ext cx="3749040" cy="2697480"/>
          </a:xfrm>
          <a:prstGeom prst="roundRect">
            <a:avLst>
              <a:gd name="adj" fmla="val 5085"/>
            </a:avLst>
          </a:prstGeom>
          <a:solidFill>
            <a:srgbClr val="DBEAFE"/>
          </a:solidFill>
          <a:ln w="1016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10972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⚡  ApiStack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89120" y="1517904"/>
            <a:ext cx="3566160" cy="0"/>
          </a:xfrm>
          <a:prstGeom prst="line">
            <a:avLst/>
          </a:prstGeom>
          <a:noFill/>
          <a:ln w="635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34840" y="164592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API Gateway REST API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20299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API Gateway WebSocket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34840" y="241401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Lambda (Node.js 20, esbuild)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34840" y="279806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Cognito UserPool + Client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34840" y="318211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IAM Roles &amp; Policies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275320" y="1005840"/>
            <a:ext cx="3749040" cy="2697480"/>
          </a:xfrm>
          <a:prstGeom prst="roundRect">
            <a:avLst>
              <a:gd name="adj" fmla="val 5085"/>
            </a:avLst>
          </a:prstGeom>
          <a:solidFill>
            <a:srgbClr val="FEF3C7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109728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🕷️  CrawlerStack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366760" y="1517904"/>
            <a:ext cx="3566160" cy="0"/>
          </a:xfrm>
          <a:prstGeom prst="line">
            <a:avLst/>
          </a:prstGeom>
          <a:noFill/>
          <a:ln w="63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412480" y="164592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Lambda Crawler Workers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412480" y="202996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SQS Queue (DLQ 포함)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12480" y="241401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EventBridge 스케줄러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412480" y="279806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Bedrock 권한 설정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412480" y="318211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CloudWatch 로그 그룹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20040" y="3886200"/>
            <a:ext cx="3749040" cy="2468880"/>
          </a:xfrm>
          <a:prstGeom prst="roundRect">
            <a:avLst>
              <a:gd name="adj" fmla="val 5556"/>
            </a:avLst>
          </a:prstGeom>
          <a:solidFill>
            <a:srgbClr val="EEF2FF"/>
          </a:solidFill>
          <a:ln w="10160">
            <a:solidFill>
              <a:srgbClr val="4F46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39776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⚛️  FrontendStack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11480" y="4398264"/>
            <a:ext cx="3566160" cy="0"/>
          </a:xfrm>
          <a:prstGeom prst="line">
            <a:avLst/>
          </a:prstGeom>
          <a:noFill/>
          <a:ln w="6350">
            <a:solidFill>
              <a:srgbClr val="4F46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52628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S3 버킷 (정적 호스팅)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57200" y="49103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CloudFront Distribution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529437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ACM SSL 인증서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57200" y="567842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Route53 레코드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57200" y="606247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OAC (Origin Access Control)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297680" y="3886200"/>
            <a:ext cx="3749040" cy="2468880"/>
          </a:xfrm>
          <a:prstGeom prst="roundRect">
            <a:avLst>
              <a:gd name="adj" fmla="val 5556"/>
            </a:avLst>
          </a:prstGeom>
          <a:solidFill>
            <a:srgbClr val="EDE9FE"/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34840" y="3977640"/>
            <a:ext cx="3474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🔐  CertStack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389120" y="4398264"/>
            <a:ext cx="3566160" cy="0"/>
          </a:xfrm>
          <a:prstGeom prst="line">
            <a:avLst/>
          </a:prstGeom>
          <a:noFill/>
          <a:ln w="6350">
            <a:solidFill>
              <a:srgbClr val="7C3A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434840" y="452628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ACM 인증서 (us-east-1)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434840" y="4910328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도메인 검증 레코드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434840" y="529437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 Cross-region 참조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0" y="-914400"/>
            <a:ext cx="3657600" cy="3657600"/>
          </a:xfrm>
          <a:prstGeom prst="ellipse">
            <a:avLst/>
          </a:prstGeom>
          <a:solidFill>
            <a:srgbClr val="7C3AED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4572000"/>
            <a:ext cx="2743200" cy="2743200"/>
          </a:xfrm>
          <a:prstGeom prst="ellipse">
            <a:avLst/>
          </a:prstGeom>
          <a:solidFill>
            <a:srgbClr val="4F46E5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2286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구현 범위 &amp; 향후 로드맵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11247120" cy="36576"/>
          </a:xfrm>
          <a:prstGeom prst="rect">
            <a:avLst/>
          </a:prstGeom>
          <a:solidFill>
            <a:srgbClr val="A5B4FC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914400"/>
            <a:ext cx="5577840" cy="5029200"/>
          </a:xfrm>
          <a:prstGeom prst="roundRect">
            <a:avLst>
              <a:gd name="adj" fmla="val 2727"/>
            </a:avLst>
          </a:prstGeom>
          <a:solidFill>
            <a:srgbClr val="EEF2FF">
              <a:alpha val="60000"/>
            </a:srgbClr>
          </a:solidFill>
          <a:ln w="7620">
            <a:solidFill>
              <a:srgbClr val="A5B4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005840"/>
            <a:ext cx="5303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 M100 · v1.0 (현재)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148132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인프라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45920" y="148132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CDK v2 5개 스택 정의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645920" y="173736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esbuild 번들링 설정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15798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프론트엔드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645920" y="2157984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React SPA 기본 페이지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45920" y="241401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행사 목록·필터·상세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645920" y="26700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지도 뷰 (Naver Maps)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645920" y="29260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MY 페이지 IP 관리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2920" y="3346704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645920" y="3346704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행사 CRUD Lambda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45920" y="360273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IP 관리 API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45920" y="385876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WebSocket 연결 관리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4279392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크롤러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645920" y="4279392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EventBridge 스케줄러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45920" y="4535424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SQS 기반 크롤러 워커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645920" y="4791456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Bedrock 분류 파이프라인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035040" y="91440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5B21B6">
              <a:alpha val="40000"/>
            </a:srgbClr>
          </a:solidFill>
          <a:ln w="7620">
            <a:solidFill>
              <a:srgbClr val="A5B4FC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217920" y="100584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 M200 · v2.0 (계획)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920" y="1481328"/>
            <a:ext cx="5303520" cy="438912"/>
          </a:xfrm>
          <a:prstGeom prst="roundRect">
            <a:avLst>
              <a:gd name="adj" fmla="val 16667"/>
            </a:avLst>
          </a:prstGeom>
          <a:solidFill>
            <a:srgbClr val="5B21B6">
              <a:alpha val="6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0" y="1481328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 캘린더 뷰 (FullCalendar 통합)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2011680"/>
            <a:ext cx="5303520" cy="438912"/>
          </a:xfrm>
          <a:prstGeom prst="roundRect">
            <a:avLst>
              <a:gd name="adj" fmla="val 16667"/>
            </a:avLst>
          </a:prstGeom>
          <a:solidFill>
            <a:srgbClr val="5B21B6">
              <a:alpha val="6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011680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🔔  이메일 알림 (SES + SNS 팬아웃)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542032"/>
            <a:ext cx="5303520" cy="438912"/>
          </a:xfrm>
          <a:prstGeom prst="roundRect">
            <a:avLst>
              <a:gd name="adj" fmla="val 16667"/>
            </a:avLst>
          </a:prstGeom>
          <a:solidFill>
            <a:srgbClr val="5B21B6">
              <a:alpha val="6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0" y="2542032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  크롤러 소스 확장 (트위터 API v2)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217920" y="3072384"/>
            <a:ext cx="5303520" cy="438912"/>
          </a:xfrm>
          <a:prstGeom prst="roundRect">
            <a:avLst>
              <a:gd name="adj" fmla="val 16667"/>
            </a:avLst>
          </a:prstGeom>
          <a:solidFill>
            <a:srgbClr val="5B21B6">
              <a:alpha val="60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3072384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 OpenSearch 전문 검색 UI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3602736"/>
            <a:ext cx="5303520" cy="438912"/>
          </a:xfrm>
          <a:prstGeom prst="roundRect">
            <a:avLst>
              <a:gd name="adj" fmla="val 16667"/>
            </a:avLst>
          </a:prstGeom>
          <a:solidFill>
            <a:srgbClr val="5B21B6">
              <a:alpha val="6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3602736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 관리자 대시보드 (크롤링 통계)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17920" y="4133088"/>
            <a:ext cx="5303520" cy="438912"/>
          </a:xfrm>
          <a:prstGeom prst="roundRect">
            <a:avLst>
              <a:gd name="adj" fmla="val 16667"/>
            </a:avLst>
          </a:prstGeom>
          <a:solidFill>
            <a:srgbClr val="5B21B6">
              <a:alpha val="60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0" y="4133088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 PWA (홈 화면 추가, 오프라인 캐시)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4663440"/>
            <a:ext cx="5303520" cy="438912"/>
          </a:xfrm>
          <a:prstGeom prst="roundRect">
            <a:avLst>
              <a:gd name="adj" fmla="val 16667"/>
            </a:avLst>
          </a:prstGeom>
          <a:solidFill>
            <a:srgbClr val="5B21B6">
              <a:alpha val="60000"/>
            </a:srgbClr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0" y="4663440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🌏  다국어 지원 (일본어·영어)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5193792"/>
            <a:ext cx="5303520" cy="438912"/>
          </a:xfrm>
          <a:prstGeom prst="roundRect">
            <a:avLst>
              <a:gd name="adj" fmla="val 16667"/>
            </a:avLst>
          </a:prstGeom>
          <a:solidFill>
            <a:srgbClr val="5B21B6">
              <a:alpha val="6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0" y="5193792"/>
            <a:ext cx="51206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1D5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 소셜 로그인 (Google, Kakao)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0" y="6126480"/>
            <a:ext cx="1219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서브컬처 트래커 — 팬들이 행사를 놓치지 않도록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서브컬처 트래커 (SubCulture Tracker)</dc:title>
  <dc:subject>PptxGenJS Presentation</dc:subject>
  <dc:creator>SubCulture Tracker Team</dc:creator>
  <cp:lastModifiedBy>SubCulture Tracker Team</cp:lastModifiedBy>
  <cp:revision>1</cp:revision>
  <dcterms:created xsi:type="dcterms:W3CDTF">2026-06-05T01:43:23Z</dcterms:created>
  <dcterms:modified xsi:type="dcterms:W3CDTF">2026-06-05T01:43:23Z</dcterms:modified>
</cp:coreProperties>
</file>